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Arvo"/>
      <p:regular r:id="rId29"/>
      <p:bold r:id="rId30"/>
      <p:italic r:id="rId31"/>
      <p:boldItalic r:id="rId32"/>
    </p:embeddedFont>
    <p:embeddedFont>
      <p:font typeface="Merriweather"/>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F1AFB1-69FA-4882-A21E-714004F993E9}">
  <a:tblStyle styleId="{A1F1AFB1-69FA-4882-A21E-714004F993E9}" styleName="Table_0">
    <a:wholeTbl>
      <a:tcTxStyle>
        <a:font>
          <a:latin typeface="Arial"/>
          <a:ea typeface="Arial"/>
          <a:cs typeface="Arial"/>
        </a:font>
        <a:srgbClr val="000000"/>
      </a:tcTxStyle>
      <a:tcStyle>
        <a:tcBdr>
          <a:left>
            <a:ln cap="flat" cmpd="sng">
              <a:solidFill>
                <a:srgbClr val="E5E7EB"/>
              </a:solidFill>
              <a:prstDash val="solid"/>
              <a:round/>
              <a:headEnd len="sm" w="sm" type="none"/>
              <a:tailEnd len="sm" w="sm" type="none"/>
            </a:ln>
          </a:left>
          <a:right>
            <a:ln cap="flat" cmpd="sng">
              <a:solidFill>
                <a:srgbClr val="E5E7EB"/>
              </a:solidFill>
              <a:prstDash val="solid"/>
              <a:round/>
              <a:headEnd len="sm" w="sm" type="none"/>
              <a:tailEnd len="sm" w="sm" type="none"/>
            </a:ln>
          </a:right>
          <a:top>
            <a:ln cap="flat" cmpd="sng">
              <a:solidFill>
                <a:srgbClr val="E5E7EB"/>
              </a:solidFill>
              <a:prstDash val="solid"/>
              <a:round/>
              <a:headEnd len="sm" w="sm" type="none"/>
              <a:tailEnd len="sm" w="sm" type="none"/>
            </a:ln>
          </a:top>
          <a:bottom>
            <a:ln cap="flat" cmpd="sng" w="10575">
              <a:solidFill>
                <a:srgbClr val="E5E7EB"/>
              </a:solidFill>
              <a:prstDash val="solid"/>
              <a:round/>
              <a:headEnd len="sm" w="sm" type="none"/>
              <a:tailEnd len="sm" w="sm" type="none"/>
            </a:ln>
          </a:bottom>
          <a:insideH>
            <a:ln cap="flat" cmpd="sng">
              <a:solidFill>
                <a:srgbClr val="E5E7EB"/>
              </a:solidFill>
              <a:prstDash val="solid"/>
              <a:round/>
              <a:headEnd len="sm" w="sm" type="none"/>
              <a:tailEnd len="sm" w="sm" type="none"/>
            </a:ln>
          </a:insideH>
          <a:insideV>
            <a:ln cap="flat" cmpd="sng">
              <a:solidFill>
                <a:srgbClr val="E5E7EB"/>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1679369-CB7A-400D-BBD4-C72E591111F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v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vo-italic.fntdata"/><Relationship Id="rId30" Type="http://schemas.openxmlformats.org/officeDocument/2006/relationships/font" Target="fonts/Arvo-bold.fntdata"/><Relationship Id="rId11" Type="http://schemas.openxmlformats.org/officeDocument/2006/relationships/slide" Target="slides/slide5.xml"/><Relationship Id="rId33" Type="http://schemas.openxmlformats.org/officeDocument/2006/relationships/font" Target="fonts/Merriweather-regular.fntdata"/><Relationship Id="rId10" Type="http://schemas.openxmlformats.org/officeDocument/2006/relationships/slide" Target="slides/slide4.xml"/><Relationship Id="rId32" Type="http://schemas.openxmlformats.org/officeDocument/2006/relationships/font" Target="fonts/Arvo-boldItalic.fntdata"/><Relationship Id="rId13" Type="http://schemas.openxmlformats.org/officeDocument/2006/relationships/slide" Target="slides/slide7.xml"/><Relationship Id="rId35" Type="http://schemas.openxmlformats.org/officeDocument/2006/relationships/font" Target="fonts/Merriweather-italic.fntdata"/><Relationship Id="rId12" Type="http://schemas.openxmlformats.org/officeDocument/2006/relationships/slide" Target="slides/slide6.xml"/><Relationship Id="rId34" Type="http://schemas.openxmlformats.org/officeDocument/2006/relationships/font" Target="fonts/Merriweather-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Merriweather-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09a59da3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09a59da3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9a59da30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9a59da30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9a59da30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9a59da30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a213270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a213270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8efddaac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8efddaac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83c56d5a0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83c56d5a0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83c56d5a00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83c56d5a00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83c56d5a00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83c56d5a00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83c56d5a0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83c56d5a0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83c56d5a00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83c56d5a00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83c56d5a00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83c56d5a00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83c56d5a00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83c56d5a00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83c56d5a00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83c56d5a00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83c56d5a00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83c56d5a00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83c56d5a00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83c56d5a00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f68d073b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f68d073b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aee0f49f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aee0f49f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Preprocessing</a:t>
            </a:r>
            <a:endParaRPr/>
          </a:p>
        </p:txBody>
      </p:sp>
      <p:sp>
        <p:nvSpPr>
          <p:cNvPr id="65" name="Google Shape;65;p13"/>
          <p:cNvSpPr txBox="1"/>
          <p:nvPr>
            <p:ph idx="1" type="subTitle"/>
          </p:nvPr>
        </p:nvSpPr>
        <p:spPr>
          <a:xfrm>
            <a:off x="311700" y="1878550"/>
            <a:ext cx="4568400" cy="7383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
                <a:latin typeface="Arvo"/>
                <a:ea typeface="Arvo"/>
                <a:cs typeface="Arvo"/>
                <a:sym typeface="Arvo"/>
              </a:rPr>
              <a:t>J.P. Tonde</a:t>
            </a:r>
            <a:endParaRPr>
              <a:latin typeface="Arvo"/>
              <a:ea typeface="Arvo"/>
              <a:cs typeface="Arvo"/>
              <a:sym typeface="Arv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idx="4294967295" type="ctrTitle"/>
          </p:nvPr>
        </p:nvSpPr>
        <p:spPr>
          <a:xfrm>
            <a:off x="228775" y="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80"/>
              <a:t>Data Preprocessing</a:t>
            </a:r>
            <a:endParaRPr sz="2780"/>
          </a:p>
        </p:txBody>
      </p:sp>
      <p:sp>
        <p:nvSpPr>
          <p:cNvPr id="71" name="Google Shape;71;p14"/>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72" name="Google Shape;72;p14"/>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73" name="Google Shape;73;p14"/>
          <p:cNvSpPr txBox="1"/>
          <p:nvPr/>
        </p:nvSpPr>
        <p:spPr>
          <a:xfrm>
            <a:off x="366725" y="836875"/>
            <a:ext cx="8425200" cy="3140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latin typeface="Arvo"/>
                <a:ea typeface="Arvo"/>
                <a:cs typeface="Arvo"/>
                <a:sym typeface="Arvo"/>
              </a:rPr>
              <a:t>Data preprocessing is the process of transforming raw data into an understandable format. It is also an important step in data mining as we cannot work with raw data. The quality of the data should be checked before applying machine learning or data mining algorithms.</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Because the data may be incomplete, inconsistent, have duplicate or erroneous entries, missing values and may be in an unusable format that cannot be directly used for analysis.</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Data Preprocessing involves the transformation of the raw dataset into a usable format.</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idx="4294967295" type="ctrTitle"/>
          </p:nvPr>
        </p:nvSpPr>
        <p:spPr>
          <a:xfrm>
            <a:off x="228775" y="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80"/>
              <a:t>Data Preprocessing Steps</a:t>
            </a:r>
            <a:endParaRPr sz="2780"/>
          </a:p>
        </p:txBody>
      </p:sp>
      <p:sp>
        <p:nvSpPr>
          <p:cNvPr id="79" name="Google Shape;79;p1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80" name="Google Shape;80;p15"/>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81" name="Google Shape;81;p15"/>
          <p:cNvSpPr txBox="1"/>
          <p:nvPr/>
        </p:nvSpPr>
        <p:spPr>
          <a:xfrm>
            <a:off x="366725" y="836875"/>
            <a:ext cx="8425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200">
              <a:latin typeface="Arvo"/>
              <a:ea typeface="Arvo"/>
              <a:cs typeface="Arvo"/>
              <a:sym typeface="Arvo"/>
            </a:endParaRPr>
          </a:p>
        </p:txBody>
      </p:sp>
      <p:sp>
        <p:nvSpPr>
          <p:cNvPr id="82" name="Google Shape;82;p15"/>
          <p:cNvSpPr/>
          <p:nvPr/>
        </p:nvSpPr>
        <p:spPr>
          <a:xfrm>
            <a:off x="3937050" y="675575"/>
            <a:ext cx="1269900" cy="404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rvo"/>
                <a:ea typeface="Arvo"/>
                <a:cs typeface="Arvo"/>
                <a:sym typeface="Arvo"/>
              </a:rPr>
              <a:t>Data Cleaning</a:t>
            </a:r>
            <a:endParaRPr sz="1100">
              <a:latin typeface="Arvo"/>
              <a:ea typeface="Arvo"/>
              <a:cs typeface="Arvo"/>
              <a:sym typeface="Arvo"/>
            </a:endParaRPr>
          </a:p>
        </p:txBody>
      </p:sp>
      <p:sp>
        <p:nvSpPr>
          <p:cNvPr id="83" name="Google Shape;83;p15"/>
          <p:cNvSpPr/>
          <p:nvPr/>
        </p:nvSpPr>
        <p:spPr>
          <a:xfrm>
            <a:off x="3758400" y="1922300"/>
            <a:ext cx="1627200" cy="541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vo"/>
                <a:ea typeface="Arvo"/>
                <a:cs typeface="Arvo"/>
                <a:sym typeface="Arvo"/>
              </a:rPr>
              <a:t>Data</a:t>
            </a:r>
            <a:endParaRPr>
              <a:latin typeface="Arvo"/>
              <a:ea typeface="Arvo"/>
              <a:cs typeface="Arvo"/>
              <a:sym typeface="Arvo"/>
            </a:endParaRPr>
          </a:p>
          <a:p>
            <a:pPr indent="0" lvl="0" marL="0" rtl="0" algn="ctr">
              <a:spcBef>
                <a:spcPts val="0"/>
              </a:spcBef>
              <a:spcAft>
                <a:spcPts val="0"/>
              </a:spcAft>
              <a:buNone/>
            </a:pPr>
            <a:r>
              <a:rPr lang="en">
                <a:latin typeface="Arvo"/>
                <a:ea typeface="Arvo"/>
                <a:cs typeface="Arvo"/>
                <a:sym typeface="Arvo"/>
              </a:rPr>
              <a:t>Preprocessing</a:t>
            </a:r>
            <a:endParaRPr>
              <a:latin typeface="Arvo"/>
              <a:ea typeface="Arvo"/>
              <a:cs typeface="Arvo"/>
              <a:sym typeface="Arvo"/>
            </a:endParaRPr>
          </a:p>
        </p:txBody>
      </p:sp>
      <p:sp>
        <p:nvSpPr>
          <p:cNvPr id="84" name="Google Shape;84;p15"/>
          <p:cNvSpPr/>
          <p:nvPr/>
        </p:nvSpPr>
        <p:spPr>
          <a:xfrm>
            <a:off x="5997150" y="891700"/>
            <a:ext cx="1269900" cy="404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rvo"/>
                <a:ea typeface="Arvo"/>
                <a:cs typeface="Arvo"/>
                <a:sym typeface="Arvo"/>
              </a:rPr>
              <a:t>Data Integration</a:t>
            </a:r>
            <a:endParaRPr sz="1100">
              <a:latin typeface="Arvo"/>
              <a:ea typeface="Arvo"/>
              <a:cs typeface="Arvo"/>
              <a:sym typeface="Arvo"/>
            </a:endParaRPr>
          </a:p>
        </p:txBody>
      </p:sp>
      <p:sp>
        <p:nvSpPr>
          <p:cNvPr id="85" name="Google Shape;85;p15"/>
          <p:cNvSpPr/>
          <p:nvPr/>
        </p:nvSpPr>
        <p:spPr>
          <a:xfrm>
            <a:off x="5777250" y="3017900"/>
            <a:ext cx="1489800" cy="460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rvo"/>
                <a:ea typeface="Arvo"/>
                <a:cs typeface="Arvo"/>
                <a:sym typeface="Arvo"/>
              </a:rPr>
              <a:t>Data Transformation</a:t>
            </a:r>
            <a:endParaRPr sz="1100">
              <a:latin typeface="Arvo"/>
              <a:ea typeface="Arvo"/>
              <a:cs typeface="Arvo"/>
              <a:sym typeface="Arvo"/>
            </a:endParaRPr>
          </a:p>
        </p:txBody>
      </p:sp>
      <p:sp>
        <p:nvSpPr>
          <p:cNvPr id="86" name="Google Shape;86;p15"/>
          <p:cNvSpPr/>
          <p:nvPr/>
        </p:nvSpPr>
        <p:spPr>
          <a:xfrm>
            <a:off x="1419675" y="2958375"/>
            <a:ext cx="1269900" cy="404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rvo"/>
                <a:ea typeface="Arvo"/>
                <a:cs typeface="Arvo"/>
                <a:sym typeface="Arvo"/>
              </a:rPr>
              <a:t>Data Reduction</a:t>
            </a:r>
            <a:endParaRPr sz="1100">
              <a:latin typeface="Arvo"/>
              <a:ea typeface="Arvo"/>
              <a:cs typeface="Arvo"/>
              <a:sym typeface="Arvo"/>
            </a:endParaRPr>
          </a:p>
        </p:txBody>
      </p:sp>
      <p:sp>
        <p:nvSpPr>
          <p:cNvPr id="87" name="Google Shape;87;p15"/>
          <p:cNvSpPr/>
          <p:nvPr/>
        </p:nvSpPr>
        <p:spPr>
          <a:xfrm>
            <a:off x="1419675" y="1023350"/>
            <a:ext cx="1269900" cy="404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Arvo"/>
                <a:ea typeface="Arvo"/>
                <a:cs typeface="Arvo"/>
                <a:sym typeface="Arvo"/>
              </a:rPr>
              <a:t>Discretization</a:t>
            </a:r>
            <a:endParaRPr sz="1100">
              <a:latin typeface="Arvo"/>
              <a:ea typeface="Arvo"/>
              <a:cs typeface="Arvo"/>
              <a:sym typeface="Arvo"/>
            </a:endParaRPr>
          </a:p>
        </p:txBody>
      </p:sp>
      <p:cxnSp>
        <p:nvCxnSpPr>
          <p:cNvPr id="88" name="Google Shape;88;p15"/>
          <p:cNvCxnSpPr>
            <a:stCxn id="87" idx="3"/>
            <a:endCxn id="83" idx="1"/>
          </p:cNvCxnSpPr>
          <p:nvPr/>
        </p:nvCxnSpPr>
        <p:spPr>
          <a:xfrm>
            <a:off x="2689575" y="1225400"/>
            <a:ext cx="1068900" cy="967500"/>
          </a:xfrm>
          <a:prstGeom prst="straightConnector1">
            <a:avLst/>
          </a:prstGeom>
          <a:noFill/>
          <a:ln cap="flat" cmpd="sng" w="9525">
            <a:solidFill>
              <a:schemeClr val="dk2"/>
            </a:solidFill>
            <a:prstDash val="solid"/>
            <a:round/>
            <a:headEnd len="med" w="med" type="none"/>
            <a:tailEnd len="med" w="med" type="none"/>
          </a:ln>
        </p:spPr>
      </p:cxnSp>
      <p:cxnSp>
        <p:nvCxnSpPr>
          <p:cNvPr id="89" name="Google Shape;89;p15"/>
          <p:cNvCxnSpPr>
            <a:stCxn id="83" idx="1"/>
            <a:endCxn id="86" idx="3"/>
          </p:cNvCxnSpPr>
          <p:nvPr/>
        </p:nvCxnSpPr>
        <p:spPr>
          <a:xfrm flipH="1">
            <a:off x="2689500" y="2192900"/>
            <a:ext cx="1068900" cy="967500"/>
          </a:xfrm>
          <a:prstGeom prst="straightConnector1">
            <a:avLst/>
          </a:prstGeom>
          <a:noFill/>
          <a:ln cap="flat" cmpd="sng" w="9525">
            <a:solidFill>
              <a:schemeClr val="dk2"/>
            </a:solidFill>
            <a:prstDash val="solid"/>
            <a:round/>
            <a:headEnd len="med" w="med" type="none"/>
            <a:tailEnd len="med" w="med" type="none"/>
          </a:ln>
        </p:spPr>
      </p:cxnSp>
      <p:cxnSp>
        <p:nvCxnSpPr>
          <p:cNvPr id="90" name="Google Shape;90;p15"/>
          <p:cNvCxnSpPr>
            <a:stCxn id="83" idx="3"/>
            <a:endCxn id="85" idx="0"/>
          </p:cNvCxnSpPr>
          <p:nvPr/>
        </p:nvCxnSpPr>
        <p:spPr>
          <a:xfrm>
            <a:off x="5385600" y="2192900"/>
            <a:ext cx="1136700" cy="82500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15"/>
          <p:cNvCxnSpPr>
            <a:stCxn id="83" idx="3"/>
            <a:endCxn id="84" idx="2"/>
          </p:cNvCxnSpPr>
          <p:nvPr/>
        </p:nvCxnSpPr>
        <p:spPr>
          <a:xfrm flipH="1" rot="10800000">
            <a:off x="5385600" y="1295900"/>
            <a:ext cx="1246500" cy="897000"/>
          </a:xfrm>
          <a:prstGeom prst="straightConnector1">
            <a:avLst/>
          </a:prstGeom>
          <a:noFill/>
          <a:ln cap="flat" cmpd="sng" w="9525">
            <a:solidFill>
              <a:schemeClr val="dk2"/>
            </a:solidFill>
            <a:prstDash val="solid"/>
            <a:round/>
            <a:headEnd len="med" w="med" type="none"/>
            <a:tailEnd len="med" w="med" type="none"/>
          </a:ln>
        </p:spPr>
      </p:cxnSp>
      <p:cxnSp>
        <p:nvCxnSpPr>
          <p:cNvPr id="92" name="Google Shape;92;p15"/>
          <p:cNvCxnSpPr>
            <a:stCxn id="83" idx="0"/>
            <a:endCxn id="82" idx="2"/>
          </p:cNvCxnSpPr>
          <p:nvPr/>
        </p:nvCxnSpPr>
        <p:spPr>
          <a:xfrm rot="10800000">
            <a:off x="4572000" y="1079600"/>
            <a:ext cx="0" cy="842700"/>
          </a:xfrm>
          <a:prstGeom prst="straightConnector1">
            <a:avLst/>
          </a:prstGeom>
          <a:noFill/>
          <a:ln cap="flat" cmpd="sng" w="9525">
            <a:solidFill>
              <a:schemeClr val="dk2"/>
            </a:solidFill>
            <a:prstDash val="solid"/>
            <a:round/>
            <a:headEnd len="med" w="med" type="none"/>
            <a:tailEnd len="med" w="med" type="none"/>
          </a:ln>
        </p:spPr>
      </p:cxnSp>
      <p:sp>
        <p:nvSpPr>
          <p:cNvPr id="93" name="Google Shape;93;p15"/>
          <p:cNvSpPr txBox="1"/>
          <p:nvPr/>
        </p:nvSpPr>
        <p:spPr>
          <a:xfrm>
            <a:off x="3187650" y="3939900"/>
            <a:ext cx="326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Arvo"/>
                <a:ea typeface="Arvo"/>
                <a:cs typeface="Arvo"/>
                <a:sym typeface="Arvo"/>
              </a:rPr>
              <a:t>Figure: Steps in Data Preprocessing</a:t>
            </a:r>
            <a:endParaRPr b="1" sz="1200">
              <a:latin typeface="Arvo"/>
              <a:ea typeface="Arvo"/>
              <a:cs typeface="Arvo"/>
              <a:sym typeface="Arv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99" name="Google Shape;99;p16"/>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00" name="Google Shape;100;p16"/>
          <p:cNvSpPr txBox="1"/>
          <p:nvPr/>
        </p:nvSpPr>
        <p:spPr>
          <a:xfrm>
            <a:off x="122250" y="169250"/>
            <a:ext cx="8923500" cy="4248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latin typeface="Arvo"/>
                <a:ea typeface="Arvo"/>
                <a:cs typeface="Arvo"/>
                <a:sym typeface="Arvo"/>
              </a:rPr>
              <a:t>Data Cleaning:</a:t>
            </a:r>
            <a:r>
              <a:rPr lang="en" sz="1200">
                <a:latin typeface="Arvo"/>
                <a:ea typeface="Arvo"/>
                <a:cs typeface="Arvo"/>
                <a:sym typeface="Arvo"/>
              </a:rPr>
              <a:t>  Data Cleaning is the process of cleaning datasets by handling/removing missing, erroneous, duplicate values, removing outliers. Restructuring the data to modify it to a more readable format, etc is known as data cleaning.</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b="1" lang="en" sz="1200">
                <a:latin typeface="Arvo"/>
                <a:ea typeface="Arvo"/>
                <a:cs typeface="Arvo"/>
                <a:sym typeface="Arvo"/>
              </a:rPr>
              <a:t>Data Integration:</a:t>
            </a:r>
            <a:r>
              <a:rPr lang="en" sz="1200">
                <a:latin typeface="Arvo"/>
                <a:ea typeface="Arvo"/>
                <a:cs typeface="Arvo"/>
                <a:sym typeface="Arvo"/>
              </a:rPr>
              <a:t> Since data is collected from various sources, data integration is a crucial part of data preparation. It involves combining data from multiple data sources.</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b="1" lang="en" sz="1200">
                <a:latin typeface="Arvo"/>
                <a:ea typeface="Arvo"/>
                <a:cs typeface="Arvo"/>
                <a:sym typeface="Arvo"/>
              </a:rPr>
              <a:t>Data Transformation: </a:t>
            </a:r>
            <a:r>
              <a:rPr lang="en" sz="1200">
                <a:latin typeface="Arvo"/>
                <a:ea typeface="Arvo"/>
                <a:cs typeface="Arvo"/>
                <a:sym typeface="Arvo"/>
              </a:rPr>
              <a:t>The change made in the format or the structure of the data is called Data Transformation. Rescaling, Normalization, Label and One Hot Encoding are carried out for data transformation.</a:t>
            </a:r>
            <a:endParaRPr sz="1200">
              <a:latin typeface="Arvo"/>
              <a:ea typeface="Arvo"/>
              <a:cs typeface="Arvo"/>
              <a:sym typeface="Arvo"/>
            </a:endParaRPr>
          </a:p>
          <a:p>
            <a:pPr indent="0" lvl="0" marL="0" rtl="0" algn="l">
              <a:lnSpc>
                <a:spcPct val="150000"/>
              </a:lnSpc>
              <a:spcBef>
                <a:spcPts val="0"/>
              </a:spcBef>
              <a:spcAft>
                <a:spcPts val="0"/>
              </a:spcAft>
              <a:buNone/>
            </a:pPr>
            <a:r>
              <a:t/>
            </a:r>
            <a:endParaRPr b="1" sz="1200">
              <a:latin typeface="Arvo"/>
              <a:ea typeface="Arvo"/>
              <a:cs typeface="Arvo"/>
              <a:sym typeface="Arvo"/>
            </a:endParaRPr>
          </a:p>
          <a:p>
            <a:pPr indent="0" lvl="0" marL="0" rtl="0" algn="l">
              <a:lnSpc>
                <a:spcPct val="150000"/>
              </a:lnSpc>
              <a:spcBef>
                <a:spcPts val="0"/>
              </a:spcBef>
              <a:spcAft>
                <a:spcPts val="0"/>
              </a:spcAft>
              <a:buNone/>
            </a:pPr>
            <a:r>
              <a:rPr b="1" lang="en" sz="1200">
                <a:latin typeface="Arvo"/>
                <a:ea typeface="Arvo"/>
                <a:cs typeface="Arvo"/>
                <a:sym typeface="Arvo"/>
              </a:rPr>
              <a:t>Data Reduction</a:t>
            </a:r>
            <a:r>
              <a:rPr lang="en" sz="1200">
                <a:latin typeface="Arvo"/>
                <a:ea typeface="Arvo"/>
                <a:cs typeface="Arvo"/>
                <a:sym typeface="Arvo"/>
              </a:rPr>
              <a:t>: This process helps in the reduction of the volume of the data which make the analysis easier.</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Unwanted and UnImportant features are removed in this stage.</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b="1" lang="en" sz="1200">
                <a:latin typeface="Arvo"/>
                <a:ea typeface="Arvo"/>
                <a:cs typeface="Arvo"/>
                <a:sym typeface="Arvo"/>
              </a:rPr>
              <a:t>Data Discretization: </a:t>
            </a:r>
            <a:r>
              <a:rPr lang="en" sz="1200">
                <a:latin typeface="Arvo"/>
                <a:ea typeface="Arvo"/>
                <a:cs typeface="Arvo"/>
                <a:sym typeface="Arvo"/>
              </a:rPr>
              <a:t>The continuous values are split into discrete intervals. Discretization reduces the data size. Discretization can be of two types 1. Top-Down Discretization and Bottom-Up Discretization.</a:t>
            </a:r>
            <a:endParaRPr sz="1200">
              <a:latin typeface="Arvo"/>
              <a:ea typeface="Arvo"/>
              <a:cs typeface="Arvo"/>
              <a:sym typeface="Ar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06" name="Google Shape;106;p17"/>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07" name="Google Shape;107;p17"/>
          <p:cNvSpPr txBox="1"/>
          <p:nvPr/>
        </p:nvSpPr>
        <p:spPr>
          <a:xfrm>
            <a:off x="122250" y="16850"/>
            <a:ext cx="8923500" cy="410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Arvo"/>
                <a:ea typeface="Arvo"/>
                <a:cs typeface="Arvo"/>
                <a:sym typeface="Arvo"/>
              </a:rPr>
              <a:t>Data Cleaning</a:t>
            </a:r>
            <a:endParaRPr b="1" sz="15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Data cleaning is the process of fixing or removing incorrect, corrupted, incorrectly formatted, duplicate, or incomplete data within a dataset. It also involves identifying and removing outliers. If data is incorrect, then the algorithm will be unreliable. </a:t>
            </a:r>
            <a:endParaRPr sz="1300">
              <a:latin typeface="Arvo"/>
              <a:ea typeface="Arvo"/>
              <a:cs typeface="Arvo"/>
              <a:sym typeface="Arvo"/>
            </a:endParaRPr>
          </a:p>
          <a:p>
            <a:pPr indent="0" lvl="0" marL="0" rtl="0" algn="l">
              <a:lnSpc>
                <a:spcPct val="150000"/>
              </a:lnSpc>
              <a:spcBef>
                <a:spcPts val="0"/>
              </a:spcBef>
              <a:spcAft>
                <a:spcPts val="0"/>
              </a:spcAft>
              <a:buNone/>
            </a:pPr>
            <a:r>
              <a:rPr b="1" lang="en" sz="1000">
                <a:latin typeface="Arvo"/>
                <a:ea typeface="Arvo"/>
                <a:cs typeface="Arvo"/>
                <a:sym typeface="Arvo"/>
              </a:rPr>
              <a:t>Data Cleaning Types</a:t>
            </a:r>
            <a:endParaRPr b="1" sz="1000">
              <a:latin typeface="Arvo"/>
              <a:ea typeface="Arvo"/>
              <a:cs typeface="Arvo"/>
              <a:sym typeface="Arvo"/>
            </a:endParaRPr>
          </a:p>
          <a:p>
            <a:pPr indent="-292100" lvl="0" marL="457200" rtl="0" algn="l">
              <a:lnSpc>
                <a:spcPct val="150000"/>
              </a:lnSpc>
              <a:spcBef>
                <a:spcPts val="0"/>
              </a:spcBef>
              <a:spcAft>
                <a:spcPts val="0"/>
              </a:spcAft>
              <a:buSzPts val="1000"/>
              <a:buFont typeface="Arvo"/>
              <a:buAutoNum type="arabicPeriod"/>
            </a:pPr>
            <a:r>
              <a:rPr lang="en" sz="1000">
                <a:latin typeface="Arvo"/>
                <a:ea typeface="Arvo"/>
                <a:cs typeface="Arvo"/>
                <a:sym typeface="Arvo"/>
              </a:rPr>
              <a:t>Handling Missing Values</a:t>
            </a:r>
            <a:endParaRPr sz="1000">
              <a:latin typeface="Arvo"/>
              <a:ea typeface="Arvo"/>
              <a:cs typeface="Arvo"/>
              <a:sym typeface="Arvo"/>
            </a:endParaRPr>
          </a:p>
          <a:p>
            <a:pPr indent="-292100" lvl="0" marL="457200" rtl="0" algn="l">
              <a:lnSpc>
                <a:spcPct val="150000"/>
              </a:lnSpc>
              <a:spcBef>
                <a:spcPts val="0"/>
              </a:spcBef>
              <a:spcAft>
                <a:spcPts val="0"/>
              </a:spcAft>
              <a:buSzPts val="1000"/>
              <a:buFont typeface="Arvo"/>
              <a:buAutoNum type="arabicPeriod"/>
            </a:pPr>
            <a:r>
              <a:rPr lang="en" sz="1000">
                <a:latin typeface="Arvo"/>
                <a:ea typeface="Arvo"/>
                <a:cs typeface="Arvo"/>
                <a:sym typeface="Arvo"/>
              </a:rPr>
              <a:t>Removing Noisy Data</a:t>
            </a:r>
            <a:endParaRPr sz="1000">
              <a:latin typeface="Arvo"/>
              <a:ea typeface="Arvo"/>
              <a:cs typeface="Arvo"/>
              <a:sym typeface="Arvo"/>
            </a:endParaRPr>
          </a:p>
          <a:p>
            <a:pPr indent="-292100" lvl="0" marL="457200" rtl="0" algn="l">
              <a:lnSpc>
                <a:spcPct val="150000"/>
              </a:lnSpc>
              <a:spcBef>
                <a:spcPts val="0"/>
              </a:spcBef>
              <a:spcAft>
                <a:spcPts val="0"/>
              </a:spcAft>
              <a:buSzPts val="1000"/>
              <a:buFont typeface="Arvo"/>
              <a:buAutoNum type="arabicPeriod"/>
            </a:pPr>
            <a:r>
              <a:rPr lang="en" sz="1000">
                <a:latin typeface="Arvo"/>
                <a:ea typeface="Arvo"/>
                <a:cs typeface="Arvo"/>
                <a:sym typeface="Arvo"/>
              </a:rPr>
              <a:t>Outlier detection</a:t>
            </a:r>
            <a:endParaRPr sz="1000">
              <a:latin typeface="Arvo"/>
              <a:ea typeface="Arvo"/>
              <a:cs typeface="Arvo"/>
              <a:sym typeface="Arvo"/>
            </a:endParaRPr>
          </a:p>
          <a:p>
            <a:pPr indent="-292100" lvl="0" marL="457200" rtl="0" algn="l">
              <a:lnSpc>
                <a:spcPct val="150000"/>
              </a:lnSpc>
              <a:spcBef>
                <a:spcPts val="0"/>
              </a:spcBef>
              <a:spcAft>
                <a:spcPts val="0"/>
              </a:spcAft>
              <a:buSzPts val="1000"/>
              <a:buFont typeface="Arvo"/>
              <a:buAutoNum type="arabicPeriod"/>
            </a:pPr>
            <a:r>
              <a:rPr lang="en" sz="1000">
                <a:latin typeface="Arvo"/>
                <a:ea typeface="Arvo"/>
                <a:cs typeface="Arvo"/>
                <a:sym typeface="Arvo"/>
              </a:rPr>
              <a:t>Formatting</a:t>
            </a:r>
            <a:r>
              <a:rPr lang="en" sz="1000">
                <a:latin typeface="Arvo"/>
                <a:ea typeface="Arvo"/>
                <a:cs typeface="Arvo"/>
                <a:sym typeface="Arvo"/>
              </a:rPr>
              <a:t> Issue.</a:t>
            </a:r>
            <a:endParaRPr sz="1000">
              <a:latin typeface="Arvo"/>
              <a:ea typeface="Arvo"/>
              <a:cs typeface="Arvo"/>
              <a:sym typeface="Arvo"/>
            </a:endParaRPr>
          </a:p>
          <a:p>
            <a:pPr indent="0" lvl="0" marL="457200" rtl="0" algn="l">
              <a:lnSpc>
                <a:spcPct val="150000"/>
              </a:lnSpc>
              <a:spcBef>
                <a:spcPts val="0"/>
              </a:spcBef>
              <a:spcAft>
                <a:spcPts val="0"/>
              </a:spcAft>
              <a:buNone/>
            </a:pPr>
            <a:r>
              <a:t/>
            </a:r>
            <a:endParaRPr sz="1000">
              <a:latin typeface="Arvo"/>
              <a:ea typeface="Arvo"/>
              <a:cs typeface="Arvo"/>
              <a:sym typeface="Arvo"/>
            </a:endParaRPr>
          </a:p>
          <a:p>
            <a:pPr indent="0" lvl="0" marL="0" rtl="0" algn="l">
              <a:lnSpc>
                <a:spcPct val="150000"/>
              </a:lnSpc>
              <a:spcBef>
                <a:spcPts val="0"/>
              </a:spcBef>
              <a:spcAft>
                <a:spcPts val="0"/>
              </a:spcAft>
              <a:buNone/>
            </a:pPr>
            <a:r>
              <a:rPr b="1" lang="en" sz="1200">
                <a:latin typeface="Arvo"/>
                <a:ea typeface="Arvo"/>
                <a:cs typeface="Arvo"/>
                <a:sym typeface="Arvo"/>
              </a:rPr>
              <a:t>How to know whether the data has missing values?</a:t>
            </a:r>
            <a:endParaRPr b="1" sz="1200">
              <a:latin typeface="Arvo"/>
              <a:ea typeface="Arvo"/>
              <a:cs typeface="Arvo"/>
              <a:sym typeface="Arvo"/>
            </a:endParaRPr>
          </a:p>
          <a:p>
            <a:pPr indent="-304800" lvl="0" marL="457200" rtl="0" algn="l">
              <a:lnSpc>
                <a:spcPct val="150000"/>
              </a:lnSpc>
              <a:spcBef>
                <a:spcPts val="0"/>
              </a:spcBef>
              <a:spcAft>
                <a:spcPts val="0"/>
              </a:spcAft>
              <a:buSzPts val="1200"/>
              <a:buFont typeface="Arvo"/>
              <a:buAutoNum type="arabicPeriod"/>
            </a:pPr>
            <a:r>
              <a:rPr lang="en" sz="1200">
                <a:latin typeface="Arvo"/>
                <a:ea typeface="Arvo"/>
                <a:cs typeface="Arvo"/>
                <a:sym typeface="Arvo"/>
              </a:rPr>
              <a:t>df.info()</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AutoNum type="arabicPeriod"/>
            </a:pPr>
            <a:r>
              <a:rPr lang="en" sz="1200">
                <a:latin typeface="Arvo"/>
                <a:ea typeface="Arvo"/>
                <a:cs typeface="Arvo"/>
                <a:sym typeface="Arvo"/>
              </a:rPr>
              <a:t>df.isnull()</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AutoNum type="arabicPeriod"/>
            </a:pPr>
            <a:r>
              <a:rPr lang="en" sz="1200">
                <a:latin typeface="Arvo"/>
                <a:ea typeface="Arvo"/>
                <a:cs typeface="Arvo"/>
                <a:sym typeface="Arvo"/>
              </a:rPr>
              <a:t>df.notnull()</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AutoNum type="arabicPeriod"/>
            </a:pPr>
            <a:r>
              <a:rPr lang="en" sz="1200">
                <a:latin typeface="Arvo"/>
                <a:ea typeface="Arvo"/>
                <a:cs typeface="Arvo"/>
                <a:sym typeface="Arvo"/>
              </a:rPr>
              <a:t>df.isnull().sum()</a:t>
            </a:r>
            <a:endParaRPr sz="1500">
              <a:latin typeface="Arvo"/>
              <a:ea typeface="Arvo"/>
              <a:cs typeface="Arvo"/>
              <a:sym typeface="Ar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13" name="Google Shape;113;p18"/>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14" name="Google Shape;114;p18"/>
          <p:cNvSpPr txBox="1"/>
          <p:nvPr/>
        </p:nvSpPr>
        <p:spPr>
          <a:xfrm>
            <a:off x="122250" y="169250"/>
            <a:ext cx="8923500" cy="423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a:latin typeface="Arvo"/>
                <a:ea typeface="Arvo"/>
                <a:cs typeface="Arvo"/>
                <a:sym typeface="Arvo"/>
              </a:rPr>
              <a:t>Handling/ Fixing Missing  Values</a:t>
            </a:r>
            <a:endParaRPr b="1">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317500" lvl="1" marL="914400" rtl="0" algn="l">
              <a:lnSpc>
                <a:spcPct val="150000"/>
              </a:lnSpc>
              <a:spcBef>
                <a:spcPts val="0"/>
              </a:spcBef>
              <a:spcAft>
                <a:spcPts val="0"/>
              </a:spcAft>
              <a:buSzPts val="1400"/>
              <a:buFont typeface="Arvo"/>
              <a:buChar char="○"/>
            </a:pPr>
            <a:r>
              <a:rPr lang="en">
                <a:latin typeface="Arvo"/>
                <a:ea typeface="Arvo"/>
                <a:cs typeface="Arvo"/>
                <a:sym typeface="Arvo"/>
              </a:rPr>
              <a:t>Method 1: Replace manually</a:t>
            </a:r>
            <a:endParaRPr>
              <a:latin typeface="Arvo"/>
              <a:ea typeface="Arvo"/>
              <a:cs typeface="Arvo"/>
              <a:sym typeface="Arvo"/>
            </a:endParaRPr>
          </a:p>
          <a:p>
            <a:pPr indent="-317500" lvl="1" marL="914400" rtl="0" algn="l">
              <a:lnSpc>
                <a:spcPct val="150000"/>
              </a:lnSpc>
              <a:spcBef>
                <a:spcPts val="0"/>
              </a:spcBef>
              <a:spcAft>
                <a:spcPts val="0"/>
              </a:spcAft>
              <a:buSzPts val="1400"/>
              <a:buFont typeface="Arvo"/>
              <a:buChar char="○"/>
            </a:pPr>
            <a:r>
              <a:rPr lang="en">
                <a:latin typeface="Arvo"/>
                <a:ea typeface="Arvo"/>
                <a:cs typeface="Arvo"/>
                <a:sym typeface="Arvo"/>
              </a:rPr>
              <a:t>Method 2: Replace with zeros</a:t>
            </a:r>
            <a:endParaRPr>
              <a:latin typeface="Arvo"/>
              <a:ea typeface="Arvo"/>
              <a:cs typeface="Arvo"/>
              <a:sym typeface="Arvo"/>
            </a:endParaRPr>
          </a:p>
          <a:p>
            <a:pPr indent="-317500" lvl="1" marL="914400" rtl="0" algn="l">
              <a:lnSpc>
                <a:spcPct val="150000"/>
              </a:lnSpc>
              <a:spcBef>
                <a:spcPts val="0"/>
              </a:spcBef>
              <a:spcAft>
                <a:spcPts val="0"/>
              </a:spcAft>
              <a:buSzPts val="1400"/>
              <a:buFont typeface="Arvo"/>
              <a:buChar char="○"/>
            </a:pPr>
            <a:r>
              <a:rPr lang="en">
                <a:latin typeface="Arvo"/>
                <a:ea typeface="Arvo"/>
                <a:cs typeface="Arvo"/>
                <a:sym typeface="Arvo"/>
              </a:rPr>
              <a:t>Method 3: Dropping Row with missing values</a:t>
            </a:r>
            <a:endParaRPr>
              <a:latin typeface="Arvo"/>
              <a:ea typeface="Arvo"/>
              <a:cs typeface="Arvo"/>
              <a:sym typeface="Arvo"/>
            </a:endParaRPr>
          </a:p>
          <a:p>
            <a:pPr indent="-317500" lvl="1" marL="914400" rtl="0" algn="l">
              <a:lnSpc>
                <a:spcPct val="150000"/>
              </a:lnSpc>
              <a:spcBef>
                <a:spcPts val="0"/>
              </a:spcBef>
              <a:spcAft>
                <a:spcPts val="0"/>
              </a:spcAft>
              <a:buSzPts val="1400"/>
              <a:buFont typeface="Arvo"/>
              <a:buChar char="○"/>
            </a:pPr>
            <a:r>
              <a:rPr lang="en">
                <a:latin typeface="Arvo"/>
                <a:ea typeface="Arvo"/>
                <a:cs typeface="Arvo"/>
                <a:sym typeface="Arvo"/>
              </a:rPr>
              <a:t>Method 4: Replace missing values with mean/mode/median</a:t>
            </a:r>
            <a:endParaRPr>
              <a:latin typeface="Arvo"/>
              <a:ea typeface="Arvo"/>
              <a:cs typeface="Arvo"/>
              <a:sym typeface="Arvo"/>
            </a:endParaRPr>
          </a:p>
          <a:p>
            <a:pPr indent="-317500" lvl="1" marL="914400" rtl="0" algn="l">
              <a:lnSpc>
                <a:spcPct val="150000"/>
              </a:lnSpc>
              <a:spcBef>
                <a:spcPts val="0"/>
              </a:spcBef>
              <a:spcAft>
                <a:spcPts val="0"/>
              </a:spcAft>
              <a:buSzPts val="1400"/>
              <a:buFont typeface="Arvo"/>
              <a:buChar char="○"/>
            </a:pPr>
            <a:r>
              <a:rPr lang="en">
                <a:latin typeface="Arvo"/>
                <a:ea typeface="Arvo"/>
                <a:cs typeface="Arvo"/>
                <a:sym typeface="Arvo"/>
              </a:rPr>
              <a:t>Method 5: Replace missing values with Previous Next Row</a:t>
            </a:r>
            <a:endParaRPr>
              <a:latin typeface="Arvo"/>
              <a:ea typeface="Arvo"/>
              <a:cs typeface="Arvo"/>
              <a:sym typeface="Arvo"/>
            </a:endParaRPr>
          </a:p>
          <a:p>
            <a:pPr indent="0" lvl="0" marL="0" rtl="0" algn="l">
              <a:lnSpc>
                <a:spcPct val="150000"/>
              </a:lnSpc>
              <a:spcBef>
                <a:spcPts val="0"/>
              </a:spcBef>
              <a:spcAft>
                <a:spcPts val="0"/>
              </a:spcAft>
              <a:buNone/>
            </a:pPr>
            <a:r>
              <a:rPr b="1" lang="en">
                <a:latin typeface="Arvo"/>
                <a:ea typeface="Arvo"/>
                <a:cs typeface="Arvo"/>
                <a:sym typeface="Arvo"/>
              </a:rPr>
              <a:t>Handling Noisy Data</a:t>
            </a:r>
            <a:endParaRPr b="1">
              <a:latin typeface="Arvo"/>
              <a:ea typeface="Arvo"/>
              <a:cs typeface="Arvo"/>
              <a:sym typeface="Arvo"/>
            </a:endParaRPr>
          </a:p>
          <a:p>
            <a:pPr indent="-317500" lvl="1" marL="914400" rtl="0" algn="l">
              <a:lnSpc>
                <a:spcPct val="150000"/>
              </a:lnSpc>
              <a:spcBef>
                <a:spcPts val="0"/>
              </a:spcBef>
              <a:spcAft>
                <a:spcPts val="0"/>
              </a:spcAft>
              <a:buSzPts val="1400"/>
              <a:buFont typeface="Arvo"/>
              <a:buChar char="○"/>
            </a:pPr>
            <a:r>
              <a:rPr lang="en">
                <a:latin typeface="Arvo"/>
                <a:ea typeface="Arvo"/>
                <a:cs typeface="Arvo"/>
                <a:sym typeface="Arvo"/>
              </a:rPr>
              <a:t>Duplicate Entries/Huge Outlier, Out of the Data, Artificial entries, Irregular Spacing</a:t>
            </a:r>
            <a:endParaRPr>
              <a:latin typeface="Arvo"/>
              <a:ea typeface="Arvo"/>
              <a:cs typeface="Arvo"/>
              <a:sym typeface="Arvo"/>
            </a:endParaRPr>
          </a:p>
          <a:p>
            <a:pPr indent="0" lvl="0" marL="914400" rtl="0" algn="l">
              <a:lnSpc>
                <a:spcPct val="150000"/>
              </a:lnSpc>
              <a:spcBef>
                <a:spcPts val="0"/>
              </a:spcBef>
              <a:spcAft>
                <a:spcPts val="0"/>
              </a:spcAft>
              <a:buNone/>
            </a:pPr>
            <a:r>
              <a:t/>
            </a:r>
            <a:endParaRPr>
              <a:latin typeface="Arvo"/>
              <a:ea typeface="Arvo"/>
              <a:cs typeface="Arvo"/>
              <a:sym typeface="Arvo"/>
            </a:endParaRPr>
          </a:p>
          <a:p>
            <a:pPr indent="0" lvl="0" marL="0" rtl="0" algn="l">
              <a:lnSpc>
                <a:spcPct val="150000"/>
              </a:lnSpc>
              <a:spcBef>
                <a:spcPts val="0"/>
              </a:spcBef>
              <a:spcAft>
                <a:spcPts val="0"/>
              </a:spcAft>
              <a:buNone/>
            </a:pPr>
            <a:r>
              <a:rPr lang="en">
                <a:latin typeface="Arvo"/>
                <a:ea typeface="Arvo"/>
                <a:cs typeface="Arvo"/>
                <a:sym typeface="Arvo"/>
              </a:rPr>
              <a:t>Formatting Issue: </a:t>
            </a:r>
            <a:endParaRPr>
              <a:latin typeface="Arvo"/>
              <a:ea typeface="Arvo"/>
              <a:cs typeface="Arvo"/>
              <a:sym typeface="Arvo"/>
            </a:endParaRPr>
          </a:p>
          <a:p>
            <a:pPr indent="0" lvl="0" marL="0" rtl="0" algn="l">
              <a:lnSpc>
                <a:spcPct val="150000"/>
              </a:lnSpc>
              <a:spcBef>
                <a:spcPts val="0"/>
              </a:spcBef>
              <a:spcAft>
                <a:spcPts val="0"/>
              </a:spcAft>
              <a:buNone/>
            </a:pPr>
            <a:r>
              <a:rPr lang="en">
                <a:latin typeface="Arvo"/>
                <a:ea typeface="Arvo"/>
                <a:cs typeface="Arvo"/>
                <a:sym typeface="Arvo"/>
              </a:rPr>
              <a:t>Extra white spaces, Irregular Capitalization, Inconsistent delimiters, Invalid Date, of Date with different format. </a:t>
            </a:r>
            <a:endParaRPr sz="1200">
              <a:latin typeface="Arvo"/>
              <a:ea typeface="Arvo"/>
              <a:cs typeface="Arvo"/>
              <a:sym typeface="Arv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20" name="Google Shape;120;p19"/>
          <p:cNvSpPr txBox="1"/>
          <p:nvPr/>
        </p:nvSpPr>
        <p:spPr>
          <a:xfrm>
            <a:off x="122250" y="169250"/>
            <a:ext cx="8923500" cy="4363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Data Transformation</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Data transformation is the process of converting data from one format to another, typically from the format of a source system into the required format of destination system.</a:t>
            </a:r>
            <a:endParaRPr sz="13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There are various techniques of Data Transformation</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Normalizing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Binarizing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Standardizing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Rescaling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Label Encoding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One Hot Encoding</a:t>
            </a:r>
            <a:endParaRPr sz="13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26" name="Google Shape;126;p20"/>
          <p:cNvSpPr txBox="1"/>
          <p:nvPr/>
        </p:nvSpPr>
        <p:spPr>
          <a:xfrm>
            <a:off x="122250" y="169250"/>
            <a:ext cx="8923500" cy="46638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b="1" lang="en" sz="1500">
                <a:latin typeface="Arvo"/>
                <a:ea typeface="Arvo"/>
                <a:cs typeface="Arvo"/>
                <a:sym typeface="Arvo"/>
              </a:rPr>
              <a:t>Normalizing Data</a:t>
            </a:r>
            <a:endParaRPr b="1" sz="1700">
              <a:latin typeface="Arvo"/>
              <a:ea typeface="Arvo"/>
              <a:cs typeface="Arvo"/>
              <a:sym typeface="Arvo"/>
            </a:endParaRPr>
          </a:p>
          <a:p>
            <a:pPr indent="0" lvl="0" marL="457200" rtl="0" algn="l">
              <a:lnSpc>
                <a:spcPct val="150000"/>
              </a:lnSpc>
              <a:spcBef>
                <a:spcPts val="0"/>
              </a:spcBef>
              <a:spcAft>
                <a:spcPts val="0"/>
              </a:spcAft>
              <a:buNone/>
            </a:pPr>
            <a:r>
              <a:rPr lang="en" sz="1300">
                <a:latin typeface="Arvo"/>
                <a:ea typeface="Arvo"/>
                <a:cs typeface="Arvo"/>
                <a:sym typeface="Arvo"/>
              </a:rPr>
              <a:t>Normalization refers to rescaling real-valued numeric attributes into a 0 to 1 range or 1 to -1.</a:t>
            </a:r>
            <a:endParaRPr sz="1300">
              <a:latin typeface="Arvo"/>
              <a:ea typeface="Arvo"/>
              <a:cs typeface="Arvo"/>
              <a:sym typeface="Arvo"/>
            </a:endParaRPr>
          </a:p>
          <a:p>
            <a:pPr indent="0" lvl="0" marL="457200" rtl="0" algn="l">
              <a:lnSpc>
                <a:spcPct val="150000"/>
              </a:lnSpc>
              <a:spcBef>
                <a:spcPts val="0"/>
              </a:spcBef>
              <a:spcAft>
                <a:spcPts val="0"/>
              </a:spcAft>
              <a:buNone/>
            </a:pPr>
            <a:r>
              <a:rPr lang="en" sz="1300">
                <a:latin typeface="Arvo"/>
                <a:ea typeface="Arvo"/>
                <a:cs typeface="Arvo"/>
                <a:sym typeface="Arvo"/>
              </a:rPr>
              <a:t>In the world of data science and machine learning, it is common to work with datasets that have different scales or units of measurement. For instance, imagine a dataset with two features: age and income. Age is typically measured in years, while income is measured in dollars. The values for age would be much smaller than the values for income, which can range from a few thousand dollars to millions.</a:t>
            </a:r>
            <a:endParaRPr sz="1300">
              <a:latin typeface="Arvo"/>
              <a:ea typeface="Arvo"/>
              <a:cs typeface="Arvo"/>
              <a:sym typeface="Arvo"/>
            </a:endParaRPr>
          </a:p>
          <a:p>
            <a:pPr indent="0" lvl="0" marL="457200" rtl="0" algn="l">
              <a:lnSpc>
                <a:spcPct val="150000"/>
              </a:lnSpc>
              <a:spcBef>
                <a:spcPts val="0"/>
              </a:spcBef>
              <a:spcAft>
                <a:spcPts val="0"/>
              </a:spcAft>
              <a:buNone/>
            </a:pPr>
            <a:r>
              <a:rPr lang="en" sz="1300">
                <a:latin typeface="Arvo"/>
                <a:ea typeface="Arvo"/>
                <a:cs typeface="Arvo"/>
                <a:sym typeface="Arvo"/>
              </a:rPr>
              <a:t>Machine learning algorithms tend to perform better /faster when the different features (variables) are on a smaller scale. Therefore it is common practice to normalize the data before training machine learning models on it.</a:t>
            </a:r>
            <a:endParaRPr sz="1300">
              <a:latin typeface="Arvo"/>
              <a:ea typeface="Arvo"/>
              <a:cs typeface="Arvo"/>
              <a:sym typeface="Arvo"/>
            </a:endParaRPr>
          </a:p>
          <a:p>
            <a:pPr indent="0" lvl="0" marL="457200" rtl="0" algn="l">
              <a:lnSpc>
                <a:spcPct val="150000"/>
              </a:lnSpc>
              <a:spcBef>
                <a:spcPts val="0"/>
              </a:spcBef>
              <a:spcAft>
                <a:spcPts val="0"/>
              </a:spcAft>
              <a:buNone/>
            </a:pPr>
            <a:r>
              <a:t/>
            </a:r>
            <a:endParaRPr sz="1300">
              <a:latin typeface="Arvo"/>
              <a:ea typeface="Arvo"/>
              <a:cs typeface="Arvo"/>
              <a:sym typeface="Arvo"/>
            </a:endParaRPr>
          </a:p>
          <a:p>
            <a:pPr indent="0" lvl="0" marL="457200" rtl="0" algn="l">
              <a:lnSpc>
                <a:spcPct val="150000"/>
              </a:lnSpc>
              <a:spcBef>
                <a:spcPts val="0"/>
              </a:spcBef>
              <a:spcAft>
                <a:spcPts val="0"/>
              </a:spcAft>
              <a:buNone/>
            </a:pPr>
            <a:r>
              <a:rPr b="1" lang="en" sz="1300">
                <a:latin typeface="Arvo"/>
                <a:ea typeface="Arvo"/>
                <a:cs typeface="Arvo"/>
                <a:sym typeface="Arvo"/>
              </a:rPr>
              <a:t>For Example:</a:t>
            </a:r>
            <a:r>
              <a:rPr lang="en" sz="1300">
                <a:latin typeface="Arvo"/>
                <a:ea typeface="Arvo"/>
                <a:cs typeface="Arvo"/>
                <a:sym typeface="Arvo"/>
              </a:rPr>
              <a:t> If Rate of apples and oranges are stored in different units of measurement, we can not statistical perform operations on the directly. So to perform statistical operations data normalization is to be done.</a:t>
            </a:r>
            <a:endParaRPr b="1" sz="13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32" name="Google Shape;132;p21"/>
          <p:cNvSpPr txBox="1"/>
          <p:nvPr/>
        </p:nvSpPr>
        <p:spPr>
          <a:xfrm>
            <a:off x="122250" y="169250"/>
            <a:ext cx="8923500" cy="443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Arvo"/>
                <a:ea typeface="Arvo"/>
                <a:cs typeface="Arvo"/>
                <a:sym typeface="Arvo"/>
              </a:rPr>
              <a:t>MIN-MAX SCALING</a:t>
            </a:r>
            <a:endParaRPr b="1"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Min-Max Scaling is a simple method of normalization that scales the values between 0 and 1. It works by subtracting the minimum value from each value in the dataset and then dividing by the range of the dataset (i.e., maximum value minus minimum value). The formula for Min-Max Scaling is:</a:t>
            </a:r>
            <a:endParaRPr sz="13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rPr b="1" lang="en" sz="1500">
                <a:latin typeface="Arvo"/>
                <a:ea typeface="Arvo"/>
                <a:cs typeface="Arvo"/>
                <a:sym typeface="Arvo"/>
              </a:rPr>
              <a:t>X_norm = (X - X.min()) / (X.max() - X.min())</a:t>
            </a:r>
            <a:endParaRPr b="1" sz="15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a:p>
            <a:pPr indent="0" lvl="0" marL="0" rtl="0" algn="l">
              <a:lnSpc>
                <a:spcPct val="150000"/>
              </a:lnSpc>
              <a:spcBef>
                <a:spcPts val="0"/>
              </a:spcBef>
              <a:spcAft>
                <a:spcPts val="0"/>
              </a:spcAft>
              <a:buNone/>
            </a:pPr>
            <a:r>
              <a:rPr lang="en" sz="1500">
                <a:latin typeface="Arvo"/>
                <a:ea typeface="Arvo"/>
                <a:cs typeface="Arvo"/>
                <a:sym typeface="Arvo"/>
              </a:rPr>
              <a:t>where `X` is the original dataset, `X_min` is the minimum value of `X`, and `X_max` is the maximum value of `X`.</a:t>
            </a:r>
            <a:endParaRPr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38" name="Google Shape;138;p22"/>
          <p:cNvSpPr txBox="1"/>
          <p:nvPr/>
        </p:nvSpPr>
        <p:spPr>
          <a:xfrm>
            <a:off x="122250" y="169250"/>
            <a:ext cx="8923500" cy="512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Arvo"/>
                <a:ea typeface="Arvo"/>
                <a:cs typeface="Arvo"/>
                <a:sym typeface="Arvo"/>
              </a:rPr>
              <a:t>Z Score Scaling/ Standardization</a:t>
            </a:r>
            <a:endParaRPr b="1" sz="15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Z-Score Scaling, also known as Standardization/ Mean Removal, is a method of normalization that scales the values to have zero mean and unit variance. It works by subtracting the mean value from each value in the dataset and then dividing by the standard deviation of the dataset. The formula for Z-Score Scaling is:</a:t>
            </a:r>
            <a:endParaRPr sz="13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rPr b="1" lang="en" sz="1500">
                <a:latin typeface="Arvo"/>
                <a:ea typeface="Arvo"/>
                <a:cs typeface="Arvo"/>
                <a:sym typeface="Arvo"/>
              </a:rPr>
              <a:t>X_norm = (X - X.mean()) / X.std()</a:t>
            </a:r>
            <a:endParaRPr b="1" sz="15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a:p>
            <a:pPr indent="0" lvl="0" marL="0" rtl="0" algn="l">
              <a:lnSpc>
                <a:spcPct val="150000"/>
              </a:lnSpc>
              <a:spcBef>
                <a:spcPts val="0"/>
              </a:spcBef>
              <a:spcAft>
                <a:spcPts val="0"/>
              </a:spcAft>
              <a:buNone/>
            </a:pPr>
            <a:r>
              <a:rPr lang="en" sz="1500">
                <a:latin typeface="Arvo"/>
                <a:ea typeface="Arvo"/>
                <a:cs typeface="Arvo"/>
                <a:sym typeface="Arvo"/>
              </a:rPr>
              <a:t>where `X` is the original dataset, `X_mean` is the mean value of `X`, and `X_std` is the standard deviation of `X`.</a:t>
            </a:r>
            <a:endParaRPr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t/>
            </a:r>
            <a:endParaRPr sz="1500">
              <a:latin typeface="Arvo"/>
              <a:ea typeface="Arvo"/>
              <a:cs typeface="Arvo"/>
              <a:sym typeface="Arv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44" name="Google Shape;144;p23"/>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45" name="Google Shape;145;p23"/>
          <p:cNvSpPr txBox="1"/>
          <p:nvPr/>
        </p:nvSpPr>
        <p:spPr>
          <a:xfrm>
            <a:off x="122250" y="169250"/>
            <a:ext cx="8923500" cy="4079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600">
                <a:latin typeface="Arvo"/>
                <a:ea typeface="Arvo"/>
                <a:cs typeface="Arvo"/>
                <a:sym typeface="Arvo"/>
              </a:rPr>
              <a:t>Binarizing Data:</a:t>
            </a:r>
            <a:endParaRPr b="1" sz="1600">
              <a:latin typeface="Arvo"/>
              <a:ea typeface="Arvo"/>
              <a:cs typeface="Arvo"/>
              <a:sym typeface="Arvo"/>
            </a:endParaRPr>
          </a:p>
          <a:p>
            <a:pPr indent="0" lvl="0" marL="0" rtl="0" algn="l">
              <a:lnSpc>
                <a:spcPct val="150000"/>
              </a:lnSpc>
              <a:spcBef>
                <a:spcPts val="0"/>
              </a:spcBef>
              <a:spcAft>
                <a:spcPts val="0"/>
              </a:spcAft>
              <a:buNone/>
            </a:pPr>
            <a:r>
              <a:t/>
            </a:r>
            <a:endParaRPr b="1">
              <a:latin typeface="Arvo"/>
              <a:ea typeface="Arvo"/>
              <a:cs typeface="Arvo"/>
              <a:sym typeface="Arvo"/>
            </a:endParaRPr>
          </a:p>
          <a:p>
            <a:pPr indent="0" lvl="0" marL="0" rtl="0" algn="l">
              <a:lnSpc>
                <a:spcPct val="150000"/>
              </a:lnSpc>
              <a:spcBef>
                <a:spcPts val="0"/>
              </a:spcBef>
              <a:spcAft>
                <a:spcPts val="0"/>
              </a:spcAft>
              <a:buNone/>
            </a:pPr>
            <a:r>
              <a:rPr lang="en">
                <a:latin typeface="Arvo"/>
                <a:ea typeface="Arvo"/>
                <a:cs typeface="Arvo"/>
                <a:sym typeface="Arvo"/>
              </a:rPr>
              <a:t>It is the process of converting data to either 0 or 1 based on the threshold value. All the data values above the threshold value are marked as 1 whereas all the data values equal to below the threshold value are marked as 0.</a:t>
            </a:r>
            <a:endParaRPr>
              <a:latin typeface="Arvo"/>
              <a:ea typeface="Arvo"/>
              <a:cs typeface="Arvo"/>
              <a:sym typeface="Arvo"/>
            </a:endParaRPr>
          </a:p>
          <a:p>
            <a:pPr indent="0" lvl="0" marL="0" rtl="0" algn="l">
              <a:lnSpc>
                <a:spcPct val="150000"/>
              </a:lnSpc>
              <a:spcBef>
                <a:spcPts val="0"/>
              </a:spcBef>
              <a:spcAft>
                <a:spcPts val="0"/>
              </a:spcAft>
              <a:buNone/>
            </a:pPr>
            <a:r>
              <a:t/>
            </a:r>
            <a:endParaRPr>
              <a:latin typeface="Arvo"/>
              <a:ea typeface="Arvo"/>
              <a:cs typeface="Arvo"/>
              <a:sym typeface="Arvo"/>
            </a:endParaRPr>
          </a:p>
          <a:p>
            <a:pPr indent="0" lvl="0" marL="0" rtl="0" algn="l">
              <a:lnSpc>
                <a:spcPct val="150000"/>
              </a:lnSpc>
              <a:spcBef>
                <a:spcPts val="0"/>
              </a:spcBef>
              <a:spcAft>
                <a:spcPts val="0"/>
              </a:spcAft>
              <a:buNone/>
            </a:pPr>
            <a:r>
              <a:rPr lang="en">
                <a:latin typeface="Arvo"/>
                <a:ea typeface="Arvo"/>
                <a:cs typeface="Arvo"/>
                <a:sym typeface="Arvo"/>
              </a:rPr>
              <a:t>Binarization is used when you want to convert a numerical feature vector into a Boolean vector. </a:t>
            </a:r>
            <a:endParaRPr>
              <a:latin typeface="Arvo"/>
              <a:ea typeface="Arvo"/>
              <a:cs typeface="Arvo"/>
              <a:sym typeface="Arvo"/>
            </a:endParaRPr>
          </a:p>
          <a:p>
            <a:pPr indent="0" lvl="0" marL="0" rtl="0" algn="l">
              <a:lnSpc>
                <a:spcPct val="150000"/>
              </a:lnSpc>
              <a:spcBef>
                <a:spcPts val="0"/>
              </a:spcBef>
              <a:spcAft>
                <a:spcPts val="0"/>
              </a:spcAft>
              <a:buNone/>
            </a:pPr>
            <a:r>
              <a:t/>
            </a:r>
            <a:endParaRPr>
              <a:latin typeface="Arvo"/>
              <a:ea typeface="Arvo"/>
              <a:cs typeface="Arvo"/>
              <a:sym typeface="Arvo"/>
            </a:endParaRPr>
          </a:p>
          <a:p>
            <a:pPr indent="0" lvl="0" marL="0" rtl="0" algn="l">
              <a:lnSpc>
                <a:spcPct val="150000"/>
              </a:lnSpc>
              <a:spcBef>
                <a:spcPts val="0"/>
              </a:spcBef>
              <a:spcAft>
                <a:spcPts val="0"/>
              </a:spcAft>
              <a:buNone/>
            </a:pPr>
            <a:r>
              <a:rPr lang="en">
                <a:latin typeface="Arvo"/>
                <a:ea typeface="Arvo"/>
                <a:cs typeface="Arvo"/>
                <a:sym typeface="Arvo"/>
              </a:rPr>
              <a:t>In the field of digital image processing, image binarization is the process by which a color image is transformed into a binary image, that is, an image with only two colors (typically, black and white).</a:t>
            </a:r>
            <a:endParaRPr>
              <a:latin typeface="Arvo"/>
              <a:ea typeface="Arvo"/>
              <a:cs typeface="Arvo"/>
              <a:sym typeface="Arvo"/>
            </a:endParaRPr>
          </a:p>
          <a:p>
            <a:pPr indent="0" lvl="0" marL="457200" rtl="0" algn="l">
              <a:lnSpc>
                <a:spcPct val="150000"/>
              </a:lnSpc>
              <a:spcBef>
                <a:spcPts val="0"/>
              </a:spcBef>
              <a:spcAft>
                <a:spcPts val="0"/>
              </a:spcAft>
              <a:buNone/>
            </a:pPr>
            <a:r>
              <a:t/>
            </a:r>
            <a:endParaRPr b="1" sz="1600">
              <a:latin typeface="Arvo"/>
              <a:ea typeface="Arvo"/>
              <a:cs typeface="Arvo"/>
              <a:sym typeface="Arvo"/>
            </a:endParaRPr>
          </a:p>
          <a:p>
            <a:pPr indent="0" lvl="0" marL="0" rtl="0" algn="l">
              <a:lnSpc>
                <a:spcPct val="150000"/>
              </a:lnSpc>
              <a:spcBef>
                <a:spcPts val="0"/>
              </a:spcBef>
              <a:spcAft>
                <a:spcPts val="0"/>
              </a:spcAft>
              <a:buNone/>
            </a:pPr>
            <a:r>
              <a:t/>
            </a:r>
            <a:endParaRPr sz="1600">
              <a:latin typeface="Arvo"/>
              <a:ea typeface="Arvo"/>
              <a:cs typeface="Arvo"/>
              <a:sym typeface="Ar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51" name="Google Shape;151;p24"/>
          <p:cNvSpPr txBox="1"/>
          <p:nvPr/>
        </p:nvSpPr>
        <p:spPr>
          <a:xfrm>
            <a:off x="122250" y="169250"/>
            <a:ext cx="8923500" cy="4363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Categorical Variable Encoding/ Feature Scaling</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All machine learning algorithms are based on mathematics. So, we need to convert/transform all the columns into numerical format. </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To address the problems associated with categorical data, we can use encoding. This is the process by which we convert a categorical variable into a numerical form. Here, we will look at three simple methods of encoding categorical data.</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Label Encoding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Char char="●"/>
            </a:pPr>
            <a:r>
              <a:rPr lang="en" sz="1300">
                <a:latin typeface="Arvo"/>
                <a:ea typeface="Arvo"/>
                <a:cs typeface="Arvo"/>
                <a:sym typeface="Arvo"/>
              </a:rPr>
              <a:t>One-Hot Encoding</a:t>
            </a:r>
            <a:endParaRPr sz="13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Before that, let's see all the different types of data we have.</a:t>
            </a:r>
            <a:endParaRPr sz="1300">
              <a:latin typeface="Arvo"/>
              <a:ea typeface="Arvo"/>
              <a:cs typeface="Arvo"/>
              <a:sym typeface="Arvo"/>
            </a:endParaRPr>
          </a:p>
          <a:p>
            <a:pPr indent="0" lvl="0" marL="0" rtl="0" algn="l">
              <a:lnSpc>
                <a:spcPct val="150000"/>
              </a:lnSpc>
              <a:spcBef>
                <a:spcPts val="0"/>
              </a:spcBef>
              <a:spcAft>
                <a:spcPts val="0"/>
              </a:spcAft>
              <a:buNone/>
            </a:pPr>
            <a:r>
              <a:t/>
            </a:r>
            <a:endParaRPr b="1" sz="1500">
              <a:latin typeface="Arvo"/>
              <a:ea typeface="Arvo"/>
              <a:cs typeface="Arvo"/>
              <a:sym typeface="Arv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57" name="Google Shape;157;p25"/>
          <p:cNvSpPr txBox="1"/>
          <p:nvPr/>
        </p:nvSpPr>
        <p:spPr>
          <a:xfrm>
            <a:off x="122250" y="169250"/>
            <a:ext cx="8923500" cy="230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latin typeface="Arvo"/>
                <a:ea typeface="Arvo"/>
                <a:cs typeface="Arvo"/>
                <a:sym typeface="Arvo"/>
              </a:rPr>
              <a:t>Label Encoding</a:t>
            </a:r>
            <a:endParaRPr b="1"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This is a technique in which we replace the categorical data with a number.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We can do replacement by manually specifying the number to each categories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We can also use the libraries to perform automatic label Encoding.</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This is a simple replacement and does not involve much logical processing. </a:t>
            </a:r>
            <a:endParaRPr sz="1200">
              <a:latin typeface="Arvo"/>
              <a:ea typeface="Arvo"/>
              <a:cs typeface="Arvo"/>
              <a:sym typeface="Arvo"/>
            </a:endParaRPr>
          </a:p>
          <a:p>
            <a:pPr indent="0" lvl="0" marL="0" rtl="0" algn="l">
              <a:lnSpc>
                <a:spcPct val="150000"/>
              </a:lnSpc>
              <a:spcBef>
                <a:spcPts val="0"/>
              </a:spcBef>
              <a:spcAft>
                <a:spcPts val="0"/>
              </a:spcAft>
              <a:buNone/>
            </a:pPr>
            <a:r>
              <a:t/>
            </a:r>
            <a:endParaRPr b="1" sz="1200">
              <a:latin typeface="Arvo"/>
              <a:ea typeface="Arvo"/>
              <a:cs typeface="Arvo"/>
              <a:sym typeface="Arvo"/>
            </a:endParaRPr>
          </a:p>
        </p:txBody>
      </p:sp>
      <p:pic>
        <p:nvPicPr>
          <p:cNvPr id="158" name="Google Shape;158;p25"/>
          <p:cNvPicPr preferRelativeResize="0"/>
          <p:nvPr/>
        </p:nvPicPr>
        <p:blipFill>
          <a:blip r:embed="rId3">
            <a:alphaModFix/>
          </a:blip>
          <a:stretch>
            <a:fillRect/>
          </a:stretch>
        </p:blipFill>
        <p:spPr>
          <a:xfrm>
            <a:off x="1646363" y="2380425"/>
            <a:ext cx="5458826" cy="2092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64" name="Google Shape;164;p26"/>
          <p:cNvSpPr txBox="1"/>
          <p:nvPr/>
        </p:nvSpPr>
        <p:spPr>
          <a:xfrm>
            <a:off x="122250" y="169250"/>
            <a:ext cx="8923500" cy="3971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latin typeface="Arvo"/>
                <a:ea typeface="Arvo"/>
                <a:cs typeface="Arvo"/>
                <a:sym typeface="Arvo"/>
              </a:rPr>
              <a:t>One Hot Encoding</a:t>
            </a:r>
            <a:endParaRPr b="1"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Label encoding assigns a numeric value to each categorical value.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Predictive models that use this numerical data for analysis might sometimes mistake these labels for some kind of order (for example, a model might think that a label of 3 is "better" than a label of 1, which is incorrect).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In order to avoid this confusion, we can use one-hot encoding.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Here, the label-encoded data is further divided into n number of columns.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n denotes the total number of unique labels generated while performing label encoding.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For example, say that three new labels are generated through label encoding. Then, while performing one-hot encoding, the columns will be divided into three parts. So, the value of n is 3. </a:t>
            </a:r>
            <a:endParaRPr sz="1200">
              <a:latin typeface="Arvo"/>
              <a:ea typeface="Arvo"/>
              <a:cs typeface="Arvo"/>
              <a:sym typeface="Ar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170" name="Google Shape;170;p27"/>
          <p:cNvGraphicFramePr/>
          <p:nvPr/>
        </p:nvGraphicFramePr>
        <p:xfrm>
          <a:off x="1782750" y="720400"/>
          <a:ext cx="3000000" cy="3000000"/>
        </p:xfrm>
        <a:graphic>
          <a:graphicData uri="http://schemas.openxmlformats.org/drawingml/2006/table">
            <a:tbl>
              <a:tblPr>
                <a:noFill/>
                <a:tableStyleId>{A1F1AFB1-69FA-4882-A21E-714004F993E9}</a:tableStyleId>
              </a:tblPr>
              <a:tblGrid>
                <a:gridCol w="1278775"/>
                <a:gridCol w="1144400"/>
                <a:gridCol w="1480350"/>
                <a:gridCol w="1507200"/>
              </a:tblGrid>
              <a:tr h="365500">
                <a:tc>
                  <a:txBody>
                    <a:bodyPr/>
                    <a:lstStyle/>
                    <a:p>
                      <a:pPr indent="0" lvl="0" marL="0" rtl="0" algn="ctr">
                        <a:lnSpc>
                          <a:spcPct val="150000"/>
                        </a:lnSpc>
                        <a:spcBef>
                          <a:spcPts val="0"/>
                        </a:spcBef>
                        <a:spcAft>
                          <a:spcPts val="0"/>
                        </a:spcAft>
                        <a:buNone/>
                      </a:pPr>
                      <a:r>
                        <a:rPr b="1" lang="en" sz="1000">
                          <a:solidFill>
                            <a:srgbClr val="555555"/>
                          </a:solidFill>
                          <a:latin typeface="Arvo"/>
                          <a:ea typeface="Arvo"/>
                          <a:cs typeface="Arvo"/>
                          <a:sym typeface="Arvo"/>
                        </a:rPr>
                        <a:t>Decimal</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b="1" lang="en" sz="1000">
                          <a:solidFill>
                            <a:srgbClr val="555555"/>
                          </a:solidFill>
                          <a:latin typeface="Arvo"/>
                          <a:ea typeface="Arvo"/>
                          <a:cs typeface="Arvo"/>
                          <a:sym typeface="Arvo"/>
                        </a:rPr>
                        <a:t>Binary</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b="1" lang="en" sz="1000">
                          <a:solidFill>
                            <a:srgbClr val="555555"/>
                          </a:solidFill>
                          <a:latin typeface="Arvo"/>
                          <a:ea typeface="Arvo"/>
                          <a:cs typeface="Arvo"/>
                          <a:sym typeface="Arvo"/>
                        </a:rPr>
                        <a:t>One-Hot</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0000000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1</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001</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0000001</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2</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010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0000010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3</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011</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0000100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4</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100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0001000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5</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101</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0010000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6</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110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0100000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r h="378250">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7</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111</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000">
                          <a:solidFill>
                            <a:srgbClr val="555555"/>
                          </a:solidFill>
                          <a:latin typeface="Arvo"/>
                          <a:ea typeface="Arvo"/>
                          <a:cs typeface="Arvo"/>
                          <a:sym typeface="Arvo"/>
                        </a:rPr>
                        <a:t>1000000</a:t>
                      </a:r>
                      <a:endParaRPr sz="1000">
                        <a:solidFill>
                          <a:srgbClr val="555555"/>
                        </a:solidFill>
                        <a:latin typeface="Arvo"/>
                        <a:ea typeface="Arvo"/>
                        <a:cs typeface="Arvo"/>
                        <a:sym typeface="Arvo"/>
                      </a:endParaRPr>
                    </a:p>
                  </a:txBody>
                  <a:tcPr marT="63500" marB="63500" marR="63500" marL="63500">
                    <a:lnL cap="flat" cmpd="sng">
                      <a:solidFill>
                        <a:srgbClr val="E5E7EB"/>
                      </a:solidFill>
                      <a:prstDash val="solid"/>
                      <a:round/>
                      <a:headEnd len="sm" w="sm" type="none"/>
                      <a:tailEnd len="sm" w="sm" type="none"/>
                    </a:lnL>
                    <a:lnR cap="flat" cmpd="sng">
                      <a:solidFill>
                        <a:srgbClr val="E5E7EB"/>
                      </a:solidFill>
                      <a:prstDash val="solid"/>
                      <a:round/>
                      <a:headEnd len="sm" w="sm" type="none"/>
                      <a:tailEnd len="sm" w="sm" type="none"/>
                    </a:lnR>
                    <a:lnT cap="flat" cmpd="sng">
                      <a:solidFill>
                        <a:srgbClr val="E5E7EB"/>
                      </a:solidFill>
                      <a:prstDash val="solid"/>
                      <a:round/>
                      <a:headEnd len="sm" w="sm" type="none"/>
                      <a:tailEnd len="sm" w="sm" type="none"/>
                    </a:lnT>
                    <a:lnB cap="flat" cmpd="sng">
                      <a:solidFill>
                        <a:srgbClr val="E5E7EB"/>
                      </a:solidFill>
                      <a:prstDash val="solid"/>
                      <a:round/>
                      <a:headEnd len="sm" w="sm" type="none"/>
                      <a:tailEnd len="sm" w="sm" type="none"/>
                    </a:lnB>
                  </a:tcPr>
                </a:tc>
              </a:tr>
            </a:tbl>
          </a:graphicData>
        </a:graphic>
      </p:graphicFrame>
      <p:sp>
        <p:nvSpPr>
          <p:cNvPr id="171" name="Google Shape;171;p27"/>
          <p:cNvSpPr txBox="1"/>
          <p:nvPr/>
        </p:nvSpPr>
        <p:spPr>
          <a:xfrm>
            <a:off x="451350" y="110600"/>
            <a:ext cx="7839900" cy="338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000">
                <a:latin typeface="Arvo"/>
                <a:ea typeface="Arvo"/>
                <a:cs typeface="Arvo"/>
                <a:sym typeface="Arvo"/>
              </a:rPr>
              <a:t>Below is a table that compares the representation of numbers from 0 to 7 in binary, Gray code, and one-hot:</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77" name="Google Shape;177;p28"/>
          <p:cNvSpPr txBox="1"/>
          <p:nvPr/>
        </p:nvSpPr>
        <p:spPr>
          <a:xfrm>
            <a:off x="122250" y="169250"/>
            <a:ext cx="89235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latin typeface="Arvo"/>
                <a:ea typeface="Arvo"/>
                <a:cs typeface="Arvo"/>
                <a:sym typeface="Arvo"/>
              </a:rPr>
              <a:t>Data Discretization: </a:t>
            </a:r>
            <a:r>
              <a:rPr lang="en" sz="1200">
                <a:latin typeface="Arvo"/>
                <a:ea typeface="Arvo"/>
                <a:cs typeface="Arvo"/>
                <a:sym typeface="Arvo"/>
              </a:rPr>
              <a:t> Data Discretization is the method which reduces the number of values for a given continuous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Attribute by dividing the range of the attributes into intervals. It is the process through which we can transform continuous data into discrete form. We do this by creating a set of contiguous interval or bins.</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Note: Continuous data is measured, while discrete data is counted.</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Data Discretization converts a large number of data values into smaller ones, so that management of data becomes easy.</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Example We have an attribute of age with the following values</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Age [10,11,34,54,32,65,34,67,30,15,87,88,98,5,67]</a:t>
            </a:r>
            <a:endParaRPr sz="1200">
              <a:latin typeface="Arvo"/>
              <a:ea typeface="Arvo"/>
              <a:cs typeface="Arvo"/>
              <a:sym typeface="Arvo"/>
            </a:endParaRPr>
          </a:p>
          <a:p>
            <a:pPr indent="0" lvl="0" marL="0" rtl="0" algn="l">
              <a:lnSpc>
                <a:spcPct val="150000"/>
              </a:lnSpc>
              <a:spcBef>
                <a:spcPts val="0"/>
              </a:spcBef>
              <a:spcAft>
                <a:spcPts val="0"/>
              </a:spcAft>
              <a:buNone/>
            </a:pPr>
            <a:r>
              <a:rPr lang="en" sz="1200">
                <a:latin typeface="Arvo"/>
                <a:ea typeface="Arvo"/>
                <a:cs typeface="Arvo"/>
                <a:sym typeface="Arvo"/>
              </a:rPr>
              <a:t>After Discretization</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p:txBody>
      </p:sp>
      <p:graphicFrame>
        <p:nvGraphicFramePr>
          <p:cNvPr id="178" name="Google Shape;178;p28"/>
          <p:cNvGraphicFramePr/>
          <p:nvPr/>
        </p:nvGraphicFramePr>
        <p:xfrm>
          <a:off x="246025" y="3548725"/>
          <a:ext cx="3000000" cy="3000000"/>
        </p:xfrm>
        <a:graphic>
          <a:graphicData uri="http://schemas.openxmlformats.org/drawingml/2006/table">
            <a:tbl>
              <a:tblPr>
                <a:noFill/>
                <a:tableStyleId>{F1679369-CB7A-400D-BBD4-C72E591111F1}</a:tableStyleId>
              </a:tblPr>
              <a:tblGrid>
                <a:gridCol w="2413000"/>
                <a:gridCol w="2413000"/>
                <a:gridCol w="2413000"/>
              </a:tblGrid>
              <a:tr h="381000">
                <a:tc>
                  <a:txBody>
                    <a:bodyPr/>
                    <a:lstStyle/>
                    <a:p>
                      <a:pPr indent="0" lvl="0" marL="0" rtl="0" algn="ctr">
                        <a:spcBef>
                          <a:spcPts val="0"/>
                        </a:spcBef>
                        <a:spcAft>
                          <a:spcPts val="0"/>
                        </a:spcAft>
                        <a:buNone/>
                      </a:pPr>
                      <a:r>
                        <a:rPr lang="en">
                          <a:latin typeface="Arvo"/>
                          <a:ea typeface="Arvo"/>
                          <a:cs typeface="Arvo"/>
                          <a:sym typeface="Arvo"/>
                        </a:rPr>
                        <a:t>10,11,5,15</a:t>
                      </a:r>
                      <a:endParaRPr>
                        <a:latin typeface="Arvo"/>
                        <a:ea typeface="Arvo"/>
                        <a:cs typeface="Arvo"/>
                        <a:sym typeface="Arvo"/>
                      </a:endParaRPr>
                    </a:p>
                  </a:txBody>
                  <a:tcPr marT="91425" marB="91425" marR="91425" marL="91425"/>
                </a:tc>
                <a:tc>
                  <a:txBody>
                    <a:bodyPr/>
                    <a:lstStyle/>
                    <a:p>
                      <a:pPr indent="0" lvl="0" marL="0" rtl="0" algn="ctr">
                        <a:spcBef>
                          <a:spcPts val="0"/>
                        </a:spcBef>
                        <a:spcAft>
                          <a:spcPts val="0"/>
                        </a:spcAft>
                        <a:buNone/>
                      </a:pPr>
                      <a:r>
                        <a:rPr lang="en">
                          <a:latin typeface="Arvo"/>
                          <a:ea typeface="Arvo"/>
                          <a:cs typeface="Arvo"/>
                          <a:sym typeface="Arvo"/>
                        </a:rPr>
                        <a:t>35,32,30,</a:t>
                      </a:r>
                      <a:endParaRPr>
                        <a:latin typeface="Arvo"/>
                        <a:ea typeface="Arvo"/>
                        <a:cs typeface="Arvo"/>
                        <a:sym typeface="Arvo"/>
                      </a:endParaRPr>
                    </a:p>
                  </a:txBody>
                  <a:tcPr marT="91425" marB="91425" marR="91425" marL="91425"/>
                </a:tc>
                <a:tc>
                  <a:txBody>
                    <a:bodyPr/>
                    <a:lstStyle/>
                    <a:p>
                      <a:pPr indent="0" lvl="0" marL="0" rtl="0" algn="ctr">
                        <a:spcBef>
                          <a:spcPts val="0"/>
                        </a:spcBef>
                        <a:spcAft>
                          <a:spcPts val="0"/>
                        </a:spcAft>
                        <a:buNone/>
                      </a:pPr>
                      <a:r>
                        <a:rPr lang="en">
                          <a:latin typeface="Arvo"/>
                          <a:ea typeface="Arvo"/>
                          <a:cs typeface="Arvo"/>
                          <a:sym typeface="Arvo"/>
                        </a:rPr>
                        <a:t>87,88,98,65,67</a:t>
                      </a:r>
                      <a:endParaRPr>
                        <a:latin typeface="Arvo"/>
                        <a:ea typeface="Arvo"/>
                        <a:cs typeface="Arvo"/>
                        <a:sym typeface="Arvo"/>
                      </a:endParaRPr>
                    </a:p>
                  </a:txBody>
                  <a:tcPr marT="91425" marB="91425" marR="91425" marL="91425"/>
                </a:tc>
              </a:tr>
              <a:tr h="381000">
                <a:tc>
                  <a:txBody>
                    <a:bodyPr/>
                    <a:lstStyle/>
                    <a:p>
                      <a:pPr indent="0" lvl="0" marL="0" rtl="0" algn="ctr">
                        <a:spcBef>
                          <a:spcPts val="0"/>
                        </a:spcBef>
                        <a:spcAft>
                          <a:spcPts val="0"/>
                        </a:spcAft>
                        <a:buNone/>
                      </a:pPr>
                      <a:r>
                        <a:rPr lang="en">
                          <a:latin typeface="Arvo"/>
                          <a:ea typeface="Arvo"/>
                          <a:cs typeface="Arvo"/>
                          <a:sym typeface="Arvo"/>
                        </a:rPr>
                        <a:t>Young</a:t>
                      </a:r>
                      <a:endParaRPr>
                        <a:latin typeface="Arvo"/>
                        <a:ea typeface="Arvo"/>
                        <a:cs typeface="Arvo"/>
                        <a:sym typeface="Arvo"/>
                      </a:endParaRPr>
                    </a:p>
                  </a:txBody>
                  <a:tcPr marT="91425" marB="91425" marR="91425" marL="91425"/>
                </a:tc>
                <a:tc>
                  <a:txBody>
                    <a:bodyPr/>
                    <a:lstStyle/>
                    <a:p>
                      <a:pPr indent="0" lvl="0" marL="0" rtl="0" algn="ctr">
                        <a:spcBef>
                          <a:spcPts val="0"/>
                        </a:spcBef>
                        <a:spcAft>
                          <a:spcPts val="0"/>
                        </a:spcAft>
                        <a:buNone/>
                      </a:pPr>
                      <a:r>
                        <a:rPr lang="en">
                          <a:latin typeface="Arvo"/>
                          <a:ea typeface="Arvo"/>
                          <a:cs typeface="Arvo"/>
                          <a:sym typeface="Arvo"/>
                        </a:rPr>
                        <a:t>Adult</a:t>
                      </a:r>
                      <a:endParaRPr>
                        <a:latin typeface="Arvo"/>
                        <a:ea typeface="Arvo"/>
                        <a:cs typeface="Arvo"/>
                        <a:sym typeface="Arvo"/>
                      </a:endParaRPr>
                    </a:p>
                  </a:txBody>
                  <a:tcPr marT="91425" marB="91425" marR="91425" marL="91425"/>
                </a:tc>
                <a:tc>
                  <a:txBody>
                    <a:bodyPr/>
                    <a:lstStyle/>
                    <a:p>
                      <a:pPr indent="0" lvl="0" marL="0" rtl="0" algn="ctr">
                        <a:spcBef>
                          <a:spcPts val="0"/>
                        </a:spcBef>
                        <a:spcAft>
                          <a:spcPts val="0"/>
                        </a:spcAft>
                        <a:buNone/>
                      </a:pPr>
                      <a:r>
                        <a:rPr lang="en">
                          <a:latin typeface="Arvo"/>
                          <a:ea typeface="Arvo"/>
                          <a:cs typeface="Arvo"/>
                          <a:sym typeface="Arvo"/>
                        </a:rPr>
                        <a:t>Old</a:t>
                      </a:r>
                      <a:endParaRPr>
                        <a:latin typeface="Arvo"/>
                        <a:ea typeface="Arvo"/>
                        <a:cs typeface="Arvo"/>
                        <a:sym typeface="Arvo"/>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84" name="Google Shape;184;p29"/>
          <p:cNvSpPr txBox="1"/>
          <p:nvPr/>
        </p:nvSpPr>
        <p:spPr>
          <a:xfrm>
            <a:off x="125450" y="106150"/>
            <a:ext cx="8511300" cy="38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Arvo"/>
                <a:ea typeface="Arvo"/>
                <a:cs typeface="Arvo"/>
                <a:sym typeface="Arvo"/>
              </a:rPr>
              <a:t>df=pd.DataFrame({"RN":[101,102,103,104,105,106,107,108,109,110],"PER":[50,55,45,60,54,76,65,87,54,56]})</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rPr lang="en" sz="1200">
                <a:solidFill>
                  <a:schemeClr val="dk2"/>
                </a:solidFill>
                <a:latin typeface="Arvo"/>
                <a:ea typeface="Arvo"/>
                <a:cs typeface="Arvo"/>
                <a:sym typeface="Arvo"/>
              </a:rPr>
              <a:t>df["New Per1"]=pd.cut(df["PER"],bins=4, labels=['A','B','C','D'])</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rPr lang="en" sz="1200">
                <a:solidFill>
                  <a:schemeClr val="dk2"/>
                </a:solidFill>
                <a:latin typeface="Arvo"/>
                <a:ea typeface="Arvo"/>
                <a:cs typeface="Arvo"/>
                <a:sym typeface="Arvo"/>
              </a:rPr>
              <a:t>df["New Per2"]=pd.cut(df["PER"],bins=[40,60,70,80,90], labels=['A','B','C','D'])</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rPr lang="en" sz="1200">
                <a:solidFill>
                  <a:schemeClr val="dk2"/>
                </a:solidFill>
                <a:latin typeface="Arvo"/>
                <a:ea typeface="Arvo"/>
                <a:cs typeface="Arvo"/>
                <a:sym typeface="Arvo"/>
              </a:rPr>
              <a:t>-----------------------------------------------------------------------------------------------------------------------------------------------------------------------------------</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rPr lang="en" sz="1200">
                <a:solidFill>
                  <a:schemeClr val="dk2"/>
                </a:solidFill>
                <a:latin typeface="Arvo"/>
                <a:ea typeface="Arvo"/>
                <a:cs typeface="Arvo"/>
                <a:sym typeface="Arvo"/>
              </a:rPr>
              <a:t>d=KBinsDiscretizer(n_bins=4, encode='ordinal')</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rPr lang="en" sz="1200">
                <a:solidFill>
                  <a:schemeClr val="dk2"/>
                </a:solidFill>
                <a:latin typeface="Arvo"/>
                <a:ea typeface="Arvo"/>
                <a:cs typeface="Arvo"/>
                <a:sym typeface="Arvo"/>
              </a:rPr>
              <a:t>df["New Per3"]=d.fit_transform(df[["PER"]])</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rPr lang="en" sz="1200">
                <a:solidFill>
                  <a:schemeClr val="dk2"/>
                </a:solidFill>
                <a:latin typeface="Arvo"/>
                <a:ea typeface="Arvo"/>
                <a:cs typeface="Arvo"/>
                <a:sym typeface="Arvo"/>
              </a:rPr>
              <a:t>print(df)</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Arvo"/>
              <a:ea typeface="Arvo"/>
              <a:cs typeface="Arvo"/>
              <a:sym typeface="Arv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90" name="Google Shape;190;p30"/>
          <p:cNvSpPr txBox="1"/>
          <p:nvPr/>
        </p:nvSpPr>
        <p:spPr>
          <a:xfrm>
            <a:off x="666325" y="318000"/>
            <a:ext cx="7172700" cy="3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Roboto"/>
                <a:ea typeface="Roboto"/>
                <a:cs typeface="Roboto"/>
                <a:sym typeface="Roboto"/>
              </a:rPr>
              <a:t>MinmaxScaler: Dnyaneshwari</a:t>
            </a:r>
            <a:endParaRPr sz="2100">
              <a:solidFill>
                <a:schemeClr val="dk2"/>
              </a:solidFill>
              <a:latin typeface="Roboto"/>
              <a:ea typeface="Roboto"/>
              <a:cs typeface="Roboto"/>
              <a:sym typeface="Roboto"/>
            </a:endParaRPr>
          </a:p>
          <a:p>
            <a:pPr indent="0" lvl="0" marL="0" rtl="0" algn="l">
              <a:spcBef>
                <a:spcPts val="0"/>
              </a:spcBef>
              <a:spcAft>
                <a:spcPts val="0"/>
              </a:spcAft>
              <a:buNone/>
            </a:pPr>
            <a:r>
              <a:rPr lang="en" sz="2100">
                <a:solidFill>
                  <a:schemeClr val="dk2"/>
                </a:solidFill>
                <a:latin typeface="Roboto"/>
                <a:ea typeface="Roboto"/>
                <a:cs typeface="Roboto"/>
                <a:sym typeface="Roboto"/>
              </a:rPr>
              <a:t>Standardization: Vaishali</a:t>
            </a:r>
            <a:endParaRPr sz="2100">
              <a:solidFill>
                <a:schemeClr val="dk2"/>
              </a:solidFill>
              <a:latin typeface="Roboto"/>
              <a:ea typeface="Roboto"/>
              <a:cs typeface="Roboto"/>
              <a:sym typeface="Roboto"/>
            </a:endParaRPr>
          </a:p>
          <a:p>
            <a:pPr indent="0" lvl="0" marL="0" rtl="0" algn="l">
              <a:spcBef>
                <a:spcPts val="0"/>
              </a:spcBef>
              <a:spcAft>
                <a:spcPts val="0"/>
              </a:spcAft>
              <a:buNone/>
            </a:pPr>
            <a:r>
              <a:rPr lang="en" sz="2100">
                <a:solidFill>
                  <a:schemeClr val="dk2"/>
                </a:solidFill>
                <a:latin typeface="Roboto"/>
                <a:ea typeface="Roboto"/>
                <a:cs typeface="Roboto"/>
                <a:sym typeface="Roboto"/>
              </a:rPr>
              <a:t>Binarizer: Mane</a:t>
            </a:r>
            <a:endParaRPr sz="2100">
              <a:solidFill>
                <a:schemeClr val="dk2"/>
              </a:solidFill>
              <a:latin typeface="Roboto"/>
              <a:ea typeface="Roboto"/>
              <a:cs typeface="Roboto"/>
              <a:sym typeface="Roboto"/>
            </a:endParaRPr>
          </a:p>
          <a:p>
            <a:pPr indent="0" lvl="0" marL="0" rtl="0" algn="l">
              <a:spcBef>
                <a:spcPts val="0"/>
              </a:spcBef>
              <a:spcAft>
                <a:spcPts val="0"/>
              </a:spcAft>
              <a:buNone/>
            </a:pPr>
            <a:r>
              <a:rPr lang="en" sz="2100">
                <a:solidFill>
                  <a:schemeClr val="dk2"/>
                </a:solidFill>
                <a:latin typeface="Roboto"/>
                <a:ea typeface="Roboto"/>
                <a:cs typeface="Roboto"/>
                <a:sym typeface="Roboto"/>
              </a:rPr>
              <a:t>LabelEncoder: Snehal </a:t>
            </a:r>
            <a:endParaRPr sz="2100">
              <a:solidFill>
                <a:schemeClr val="dk2"/>
              </a:solidFill>
              <a:latin typeface="Roboto"/>
              <a:ea typeface="Roboto"/>
              <a:cs typeface="Roboto"/>
              <a:sym typeface="Roboto"/>
            </a:endParaRPr>
          </a:p>
          <a:p>
            <a:pPr indent="0" lvl="0" marL="0" rtl="0" algn="l">
              <a:spcBef>
                <a:spcPts val="0"/>
              </a:spcBef>
              <a:spcAft>
                <a:spcPts val="0"/>
              </a:spcAft>
              <a:buNone/>
            </a:pPr>
            <a:r>
              <a:rPr lang="en" sz="2100">
                <a:solidFill>
                  <a:schemeClr val="dk2"/>
                </a:solidFill>
                <a:latin typeface="Roboto"/>
                <a:ea typeface="Roboto"/>
                <a:cs typeface="Roboto"/>
                <a:sym typeface="Roboto"/>
              </a:rPr>
              <a:t>OneHotEncoder: Aishwarya</a:t>
            </a:r>
            <a:endParaRPr sz="2100">
              <a:solidFill>
                <a:schemeClr val="dk2"/>
              </a:solidFill>
              <a:latin typeface="Roboto"/>
              <a:ea typeface="Roboto"/>
              <a:cs typeface="Roboto"/>
              <a:sym typeface="Roboto"/>
            </a:endParaRPr>
          </a:p>
          <a:p>
            <a:pPr indent="0" lvl="0" marL="0" rtl="0" algn="l">
              <a:spcBef>
                <a:spcPts val="0"/>
              </a:spcBef>
              <a:spcAft>
                <a:spcPts val="0"/>
              </a:spcAft>
              <a:buNone/>
            </a:pPr>
            <a:r>
              <a:rPr lang="en" sz="2100">
                <a:solidFill>
                  <a:schemeClr val="dk2"/>
                </a:solidFill>
                <a:latin typeface="Roboto"/>
                <a:ea typeface="Roboto"/>
                <a:cs typeface="Roboto"/>
                <a:sym typeface="Roboto"/>
              </a:rPr>
              <a:t>Discretization: Jayesh</a:t>
            </a:r>
            <a:endParaRPr sz="2100">
              <a:solidFill>
                <a:schemeClr val="dk2"/>
              </a:solidFill>
              <a:latin typeface="Roboto"/>
              <a:ea typeface="Roboto"/>
              <a:cs typeface="Roboto"/>
              <a:sym typeface="Roboto"/>
            </a:endParaRPr>
          </a:p>
          <a:p>
            <a:pPr indent="0" lvl="0" marL="0" rtl="0" algn="l">
              <a:spcBef>
                <a:spcPts val="0"/>
              </a:spcBef>
              <a:spcAft>
                <a:spcPts val="0"/>
              </a:spcAft>
              <a:buNone/>
            </a:pPr>
            <a:r>
              <a:t/>
            </a:r>
            <a:endParaRPr sz="2100">
              <a:solidFill>
                <a:schemeClr val="dk2"/>
              </a:solidFill>
              <a:latin typeface="Roboto"/>
              <a:ea typeface="Roboto"/>
              <a:cs typeface="Roboto"/>
              <a:sym typeface="Roboto"/>
            </a:endParaRPr>
          </a:p>
          <a:p>
            <a:pPr indent="0" lvl="0" marL="0" rtl="0" algn="l">
              <a:spcBef>
                <a:spcPts val="0"/>
              </a:spcBef>
              <a:spcAft>
                <a:spcPts val="0"/>
              </a:spcAft>
              <a:buNone/>
            </a:pPr>
            <a:r>
              <a:t/>
            </a:r>
            <a:endParaRPr sz="2100">
              <a:solidFill>
                <a:schemeClr val="dk2"/>
              </a:solidFill>
              <a:latin typeface="Roboto"/>
              <a:ea typeface="Roboto"/>
              <a:cs typeface="Roboto"/>
              <a:sym typeface="Roboto"/>
            </a:endParaRPr>
          </a:p>
          <a:p>
            <a:pPr indent="0" lvl="0" marL="0" rtl="0" algn="l">
              <a:spcBef>
                <a:spcPts val="0"/>
              </a:spcBef>
              <a:spcAft>
                <a:spcPts val="0"/>
              </a:spcAft>
              <a:buNone/>
            </a:pPr>
            <a:r>
              <a:t/>
            </a:r>
            <a:endParaRPr sz="2100">
              <a:solidFill>
                <a:schemeClr val="dk2"/>
              </a:solidFill>
              <a:latin typeface="Roboto"/>
              <a:ea typeface="Roboto"/>
              <a:cs typeface="Roboto"/>
              <a:sym typeface="Roboto"/>
            </a:endParaRPr>
          </a:p>
          <a:p>
            <a:pPr indent="0" lvl="0" marL="0" rtl="0" algn="l">
              <a:spcBef>
                <a:spcPts val="0"/>
              </a:spcBef>
              <a:spcAft>
                <a:spcPts val="0"/>
              </a:spcAft>
              <a:buNone/>
            </a:pPr>
            <a:r>
              <a:t/>
            </a:r>
            <a:endParaRPr sz="21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