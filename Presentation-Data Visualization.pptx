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p:regular r:id="rId27"/>
      <p:bold r:id="rId28"/>
      <p:italic r:id="rId29"/>
      <p:boldItalic r:id="rId30"/>
    </p:embeddedFont>
    <p:embeddedFont>
      <p:font typeface="Lato"/>
      <p:regular r:id="rId31"/>
      <p:bold r:id="rId32"/>
      <p:italic r:id="rId33"/>
      <p:boldItalic r:id="rId34"/>
    </p:embeddedFont>
    <p:embeddedFont>
      <p:font typeface="Arvo"/>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435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9D98D7-7545-4C8F-8328-AD66692F0D57}">
  <a:tblStyle styleId="{A39D98D7-7545-4C8F-8328-AD66692F0D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35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4.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regular.fntdata"/><Relationship Id="rId30" Type="http://schemas.openxmlformats.org/officeDocument/2006/relationships/font" Target="fonts/Roboto-boldItalic.fntdata"/><Relationship Id="rId11" Type="http://schemas.openxmlformats.org/officeDocument/2006/relationships/slide" Target="slides/slide5.xml"/><Relationship Id="rId33" Type="http://schemas.openxmlformats.org/officeDocument/2006/relationships/font" Target="fonts/Lato-italic.fntdata"/><Relationship Id="rId10" Type="http://schemas.openxmlformats.org/officeDocument/2006/relationships/slide" Target="slides/slide4.xml"/><Relationship Id="rId32" Type="http://schemas.openxmlformats.org/officeDocument/2006/relationships/font" Target="fonts/Lato-bold.fntdata"/><Relationship Id="rId13" Type="http://schemas.openxmlformats.org/officeDocument/2006/relationships/slide" Target="slides/slide7.xml"/><Relationship Id="rId35" Type="http://schemas.openxmlformats.org/officeDocument/2006/relationships/font" Target="fonts/Arvo-regular.fntdata"/><Relationship Id="rId12" Type="http://schemas.openxmlformats.org/officeDocument/2006/relationships/slide" Target="slides/slide6.xml"/><Relationship Id="rId34" Type="http://schemas.openxmlformats.org/officeDocument/2006/relationships/font" Target="fonts/Lato-boldItalic.fntdata"/><Relationship Id="rId15" Type="http://schemas.openxmlformats.org/officeDocument/2006/relationships/slide" Target="slides/slide9.xml"/><Relationship Id="rId37" Type="http://schemas.openxmlformats.org/officeDocument/2006/relationships/font" Target="fonts/Arvo-italic.fntdata"/><Relationship Id="rId14" Type="http://schemas.openxmlformats.org/officeDocument/2006/relationships/slide" Target="slides/slide8.xml"/><Relationship Id="rId36" Type="http://schemas.openxmlformats.org/officeDocument/2006/relationships/font" Target="fonts/Arvo-bold.fntdata"/><Relationship Id="rId17" Type="http://schemas.openxmlformats.org/officeDocument/2006/relationships/slide" Target="slides/slide11.xml"/><Relationship Id="rId39" Type="http://schemas.openxmlformats.org/officeDocument/2006/relationships/font" Target="fonts/Merriweather-regular.fntdata"/><Relationship Id="rId16" Type="http://schemas.openxmlformats.org/officeDocument/2006/relationships/slide" Target="slides/slide10.xml"/><Relationship Id="rId38" Type="http://schemas.openxmlformats.org/officeDocument/2006/relationships/font" Target="fonts/Arv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85ae88b0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85ae88b0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0afbeed1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0afbeed1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ca1b641e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ca1b641e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89e9a4ef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89e9a4ef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89e9a4ef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89e9a4ef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89e9a4ef5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89e9a4ef5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89e9a4ef58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89e9a4ef58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89e9a4ef58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89e9a4ef58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9e9a4ef58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9e9a4ef58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89e9a4ef58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89e9a4ef58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9e9a4ef58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89e9a4ef58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89e9a4ef58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89e9a4ef58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fe08de4e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fe08de4e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fe08de4ee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fe08de4ee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fe08de4ee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fe08de4ee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89e9a4ef5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89e9a4ef5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ca1b641e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ca1b641e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ca1b641e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ca1b641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ca1b641e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ca1b641e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Visualization</a:t>
            </a:r>
            <a:endParaRPr/>
          </a:p>
        </p:txBody>
      </p:sp>
      <p:sp>
        <p:nvSpPr>
          <p:cNvPr id="65" name="Google Shape;65;p13"/>
          <p:cNvSpPr txBox="1"/>
          <p:nvPr>
            <p:ph idx="1" type="subTitle"/>
          </p:nvPr>
        </p:nvSpPr>
        <p:spPr>
          <a:xfrm>
            <a:off x="311700" y="1878550"/>
            <a:ext cx="4568400" cy="7383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a:latin typeface="Arvo"/>
                <a:ea typeface="Arvo"/>
                <a:cs typeface="Arvo"/>
                <a:sym typeface="Arvo"/>
              </a:rPr>
              <a:t>J.P. Tonde</a:t>
            </a:r>
            <a:endParaRPr>
              <a:latin typeface="Arvo"/>
              <a:ea typeface="Arvo"/>
              <a:cs typeface="Arvo"/>
              <a:sym typeface="Arv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71" name="Google Shape;71;p14"/>
          <p:cNvSpPr txBox="1"/>
          <p:nvPr/>
        </p:nvSpPr>
        <p:spPr>
          <a:xfrm>
            <a:off x="267000" y="196750"/>
            <a:ext cx="8319600" cy="2031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latin typeface="Arvo"/>
                <a:ea typeface="Arvo"/>
                <a:cs typeface="Arvo"/>
                <a:sym typeface="Arvo"/>
              </a:rPr>
              <a:t>Data Visualization</a:t>
            </a:r>
            <a:endParaRPr b="1" sz="1200">
              <a:latin typeface="Arvo"/>
              <a:ea typeface="Arvo"/>
              <a:cs typeface="Arvo"/>
              <a:sym typeface="Arvo"/>
            </a:endParaRPr>
          </a:p>
          <a:p>
            <a:pPr indent="0" lvl="0" marL="0" rtl="0" algn="ctr">
              <a:lnSpc>
                <a:spcPct val="150000"/>
              </a:lnSpc>
              <a:spcBef>
                <a:spcPts val="0"/>
              </a:spcBef>
              <a:spcAft>
                <a:spcPts val="0"/>
              </a:spcAft>
              <a:buNone/>
            </a:pPr>
            <a:r>
              <a:t/>
            </a:r>
            <a:endParaRPr sz="1200">
              <a:latin typeface="Arvo"/>
              <a:ea typeface="Arvo"/>
              <a:cs typeface="Arvo"/>
              <a:sym typeface="Arvo"/>
            </a:endParaRPr>
          </a:p>
          <a:p>
            <a:pPr indent="0" lvl="0" marL="457200" rtl="0" algn="l">
              <a:lnSpc>
                <a:spcPct val="150000"/>
              </a:lnSpc>
              <a:spcBef>
                <a:spcPts val="0"/>
              </a:spcBef>
              <a:spcAft>
                <a:spcPts val="0"/>
              </a:spcAft>
              <a:buNone/>
            </a:pPr>
            <a:r>
              <a:rPr lang="en" sz="1200">
                <a:latin typeface="Arvo"/>
                <a:ea typeface="Arvo"/>
                <a:cs typeface="Arvo"/>
                <a:sym typeface="Arvo"/>
              </a:rPr>
              <a:t>Data visualization is the process of representing data using visuals to help people understand patterns, trends, and insights quickly.</a:t>
            </a:r>
            <a:endParaRPr sz="1200">
              <a:latin typeface="Arvo"/>
              <a:ea typeface="Arvo"/>
              <a:cs typeface="Arvo"/>
              <a:sym typeface="Arvo"/>
            </a:endParaRPr>
          </a:p>
          <a:p>
            <a:pPr indent="0" lvl="0" marL="457200" rtl="0" algn="l">
              <a:lnSpc>
                <a:spcPct val="150000"/>
              </a:lnSpc>
              <a:spcBef>
                <a:spcPts val="0"/>
              </a:spcBef>
              <a:spcAft>
                <a:spcPts val="0"/>
              </a:spcAft>
              <a:buNone/>
            </a:pPr>
            <a:r>
              <a:t/>
            </a:r>
            <a:endParaRPr sz="1200">
              <a:latin typeface="Arvo"/>
              <a:ea typeface="Arvo"/>
              <a:cs typeface="Arvo"/>
              <a:sym typeface="Arvo"/>
            </a:endParaRPr>
          </a:p>
          <a:p>
            <a:pPr indent="0" lvl="0" marL="457200" rtl="0" algn="l">
              <a:lnSpc>
                <a:spcPct val="150000"/>
              </a:lnSpc>
              <a:spcBef>
                <a:spcPts val="0"/>
              </a:spcBef>
              <a:spcAft>
                <a:spcPts val="0"/>
              </a:spcAft>
              <a:buNone/>
            </a:pPr>
            <a:r>
              <a:rPr lang="en" sz="1200">
                <a:latin typeface="Arvo"/>
                <a:ea typeface="Arvo"/>
                <a:cs typeface="Arvo"/>
                <a:sym typeface="Arvo"/>
              </a:rPr>
              <a:t>Inshort</a:t>
            </a:r>
            <a:endParaRPr sz="1200">
              <a:latin typeface="Arvo"/>
              <a:ea typeface="Arvo"/>
              <a:cs typeface="Arvo"/>
              <a:sym typeface="Arvo"/>
            </a:endParaRPr>
          </a:p>
          <a:p>
            <a:pPr indent="0" lvl="0" marL="457200" rtl="0" algn="l">
              <a:lnSpc>
                <a:spcPct val="150000"/>
              </a:lnSpc>
              <a:spcBef>
                <a:spcPts val="0"/>
              </a:spcBef>
              <a:spcAft>
                <a:spcPts val="0"/>
              </a:spcAft>
              <a:buNone/>
            </a:pPr>
            <a:r>
              <a:rPr lang="en" sz="1200">
                <a:latin typeface="Arvo"/>
                <a:ea typeface="Arvo"/>
                <a:cs typeface="Arvo"/>
                <a:sym typeface="Arvo"/>
              </a:rPr>
              <a:t>Data visualization turns data into pictures, so people can understand it at a glance.</a:t>
            </a:r>
            <a:endParaRPr sz="1200">
              <a:latin typeface="Arvo"/>
              <a:ea typeface="Arvo"/>
              <a:cs typeface="Arvo"/>
              <a:sym typeface="Ar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77" name="Google Shape;77;p15"/>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78" name="Google Shape;78;p15"/>
          <p:cNvSpPr txBox="1"/>
          <p:nvPr/>
        </p:nvSpPr>
        <p:spPr>
          <a:xfrm>
            <a:off x="110250" y="156875"/>
            <a:ext cx="8923500" cy="20778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300">
                <a:latin typeface="Arvo"/>
                <a:ea typeface="Arvo"/>
                <a:cs typeface="Arvo"/>
                <a:sym typeface="Arvo"/>
              </a:rPr>
              <a:t>EDA VS Data Visualization</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b="1" sz="1200">
              <a:latin typeface="Arvo"/>
              <a:ea typeface="Arvo"/>
              <a:cs typeface="Arvo"/>
              <a:sym typeface="Arvo"/>
            </a:endParaRPr>
          </a:p>
          <a:p>
            <a:pPr indent="0" lvl="0" marL="0" rtl="0" algn="l">
              <a:lnSpc>
                <a:spcPct val="150000"/>
              </a:lnSpc>
              <a:spcBef>
                <a:spcPts val="0"/>
              </a:spcBef>
              <a:spcAft>
                <a:spcPts val="0"/>
              </a:spcAft>
              <a:buNone/>
            </a:pPr>
            <a:r>
              <a:t/>
            </a:r>
            <a:endParaRPr sz="1200">
              <a:latin typeface="Arvo"/>
              <a:ea typeface="Arvo"/>
              <a:cs typeface="Arvo"/>
              <a:sym typeface="Arvo"/>
            </a:endParaRPr>
          </a:p>
          <a:p>
            <a:pPr indent="0" lvl="0" marL="0" rtl="0" algn="l">
              <a:lnSpc>
                <a:spcPct val="150000"/>
              </a:lnSpc>
              <a:spcBef>
                <a:spcPts val="0"/>
              </a:spcBef>
              <a:spcAft>
                <a:spcPts val="0"/>
              </a:spcAft>
              <a:buNone/>
            </a:pPr>
            <a:r>
              <a:t/>
            </a:r>
            <a:endParaRPr b="1" sz="1200">
              <a:latin typeface="Arvo"/>
              <a:ea typeface="Arvo"/>
              <a:cs typeface="Arvo"/>
              <a:sym typeface="Arvo"/>
            </a:endParaRPr>
          </a:p>
        </p:txBody>
      </p:sp>
      <p:graphicFrame>
        <p:nvGraphicFramePr>
          <p:cNvPr id="79" name="Google Shape;79;p15"/>
          <p:cNvGraphicFramePr/>
          <p:nvPr/>
        </p:nvGraphicFramePr>
        <p:xfrm>
          <a:off x="311700" y="675600"/>
          <a:ext cx="3000000" cy="3000000"/>
        </p:xfrm>
        <a:graphic>
          <a:graphicData uri="http://schemas.openxmlformats.org/drawingml/2006/table">
            <a:tbl>
              <a:tblPr>
                <a:noFill/>
                <a:tableStyleId>{A39D98D7-7545-4C8F-8328-AD66692F0D57}</a:tableStyleId>
              </a:tblPr>
              <a:tblGrid>
                <a:gridCol w="2626600"/>
                <a:gridCol w="2626600"/>
                <a:gridCol w="2626600"/>
              </a:tblGrid>
              <a:tr h="570025">
                <a:tc>
                  <a:txBody>
                    <a:bodyPr/>
                    <a:lstStyle/>
                    <a:p>
                      <a:pPr indent="0" lvl="0" marL="0" rtl="0" algn="ctr">
                        <a:lnSpc>
                          <a:spcPct val="115000"/>
                        </a:lnSpc>
                        <a:spcBef>
                          <a:spcPts val="1200"/>
                        </a:spcBef>
                        <a:spcAft>
                          <a:spcPts val="0"/>
                        </a:spcAft>
                        <a:buNone/>
                      </a:pPr>
                      <a:r>
                        <a:rPr b="1" lang="en" sz="1200">
                          <a:latin typeface="Arvo"/>
                          <a:ea typeface="Arvo"/>
                          <a:cs typeface="Arvo"/>
                          <a:sym typeface="Arvo"/>
                        </a:rPr>
                        <a:t>Point</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200">
                          <a:latin typeface="Arvo"/>
                          <a:ea typeface="Arvo"/>
                          <a:cs typeface="Arvo"/>
                          <a:sym typeface="Arvo"/>
                        </a:rPr>
                        <a:t>EDA</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200">
                          <a:latin typeface="Arvo"/>
                          <a:ea typeface="Arvo"/>
                          <a:cs typeface="Arvo"/>
                          <a:sym typeface="Arvo"/>
                        </a:rPr>
                        <a:t>Data Visualization</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0025">
                <a:tc>
                  <a:txBody>
                    <a:bodyPr/>
                    <a:lstStyle/>
                    <a:p>
                      <a:pPr indent="0" lvl="0" marL="0" rtl="0" algn="l">
                        <a:lnSpc>
                          <a:spcPct val="115000"/>
                        </a:lnSpc>
                        <a:spcBef>
                          <a:spcPts val="1200"/>
                        </a:spcBef>
                        <a:spcAft>
                          <a:spcPts val="0"/>
                        </a:spcAft>
                        <a:buNone/>
                      </a:pPr>
                      <a:r>
                        <a:rPr b="1" lang="en" sz="1200">
                          <a:latin typeface="Arvo"/>
                          <a:ea typeface="Arvo"/>
                          <a:cs typeface="Arvo"/>
                          <a:sym typeface="Arvo"/>
                        </a:rPr>
                        <a:t>Goal</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To explore and understand data</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To explain and present data</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0025">
                <a:tc>
                  <a:txBody>
                    <a:bodyPr/>
                    <a:lstStyle/>
                    <a:p>
                      <a:pPr indent="0" lvl="0" marL="0" rtl="0" algn="l">
                        <a:lnSpc>
                          <a:spcPct val="115000"/>
                        </a:lnSpc>
                        <a:spcBef>
                          <a:spcPts val="1200"/>
                        </a:spcBef>
                        <a:spcAft>
                          <a:spcPts val="0"/>
                        </a:spcAft>
                        <a:buNone/>
                      </a:pPr>
                      <a:r>
                        <a:rPr b="1" lang="en" sz="1200">
                          <a:latin typeface="Arvo"/>
                          <a:ea typeface="Arvo"/>
                          <a:cs typeface="Arvo"/>
                          <a:sym typeface="Arvo"/>
                        </a:rPr>
                        <a:t>Focus</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Finding patterns, errors, relations</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Sharing results and insights</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0025">
                <a:tc>
                  <a:txBody>
                    <a:bodyPr/>
                    <a:lstStyle/>
                    <a:p>
                      <a:pPr indent="0" lvl="0" marL="0" rtl="0" algn="l">
                        <a:lnSpc>
                          <a:spcPct val="115000"/>
                        </a:lnSpc>
                        <a:spcBef>
                          <a:spcPts val="1200"/>
                        </a:spcBef>
                        <a:spcAft>
                          <a:spcPts val="0"/>
                        </a:spcAft>
                        <a:buNone/>
                      </a:pPr>
                      <a:r>
                        <a:rPr b="1" lang="en" sz="1200">
                          <a:latin typeface="Arvo"/>
                          <a:ea typeface="Arvo"/>
                          <a:cs typeface="Arvo"/>
                          <a:sym typeface="Arvo"/>
                        </a:rPr>
                        <a:t>Used by</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Data analyst or researcher</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Decision-maker or audience</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0025">
                <a:tc>
                  <a:txBody>
                    <a:bodyPr/>
                    <a:lstStyle/>
                    <a:p>
                      <a:pPr indent="0" lvl="0" marL="0" rtl="0" algn="l">
                        <a:lnSpc>
                          <a:spcPct val="115000"/>
                        </a:lnSpc>
                        <a:spcBef>
                          <a:spcPts val="1200"/>
                        </a:spcBef>
                        <a:spcAft>
                          <a:spcPts val="0"/>
                        </a:spcAft>
                        <a:buNone/>
                      </a:pPr>
                      <a:r>
                        <a:rPr b="1" lang="en" sz="1200">
                          <a:latin typeface="Arvo"/>
                          <a:ea typeface="Arvo"/>
                          <a:cs typeface="Arvo"/>
                          <a:sym typeface="Arvo"/>
                        </a:rPr>
                        <a:t>Output</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Cleaned data, patterns</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Graphs, charts, dashboards</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0025">
                <a:tc>
                  <a:txBody>
                    <a:bodyPr/>
                    <a:lstStyle/>
                    <a:p>
                      <a:pPr indent="0" lvl="0" marL="0" rtl="0" algn="l">
                        <a:lnSpc>
                          <a:spcPct val="115000"/>
                        </a:lnSpc>
                        <a:spcBef>
                          <a:spcPts val="1200"/>
                        </a:spcBef>
                        <a:spcAft>
                          <a:spcPts val="0"/>
                        </a:spcAft>
                        <a:buNone/>
                      </a:pPr>
                      <a:r>
                        <a:rPr b="1" lang="en" sz="1200">
                          <a:latin typeface="Arvo"/>
                          <a:ea typeface="Arvo"/>
                          <a:cs typeface="Arvo"/>
                          <a:sym typeface="Arvo"/>
                        </a:rPr>
                        <a:t>Example Tool</a:t>
                      </a:r>
                      <a:endParaRPr b="1"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Python (Pandas, Seaborn)</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200">
                          <a:latin typeface="Arvo"/>
                          <a:ea typeface="Arvo"/>
                          <a:cs typeface="Arvo"/>
                          <a:sym typeface="Arvo"/>
                        </a:rPr>
                        <a:t>Tableau, Power BI, Excel</a:t>
                      </a:r>
                      <a:endParaRPr sz="1200">
                        <a:latin typeface="Arvo"/>
                        <a:ea typeface="Arvo"/>
                        <a:cs typeface="Arvo"/>
                        <a:sym typeface="Arvo"/>
                      </a:endParaRPr>
                    </a:p>
                  </a:txBody>
                  <a:tcPr marT="9525" marB="9525" marR="9525" marL="95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85" name="Google Shape;85;p16"/>
          <p:cNvSpPr txBox="1"/>
          <p:nvPr/>
        </p:nvSpPr>
        <p:spPr>
          <a:xfrm>
            <a:off x="267000" y="196750"/>
            <a:ext cx="8319600" cy="3417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latin typeface="Arvo"/>
                <a:ea typeface="Arvo"/>
                <a:cs typeface="Arvo"/>
                <a:sym typeface="Arvo"/>
              </a:rPr>
              <a:t>Applications of EDA</a:t>
            </a:r>
            <a:endParaRPr b="1" sz="1200">
              <a:latin typeface="Arvo"/>
              <a:ea typeface="Arvo"/>
              <a:cs typeface="Arvo"/>
              <a:sym typeface="Arvo"/>
            </a:endParaRPr>
          </a:p>
          <a:p>
            <a:pPr indent="0" lvl="0" marL="0" rtl="0" algn="ctr">
              <a:lnSpc>
                <a:spcPct val="150000"/>
              </a:lnSpc>
              <a:spcBef>
                <a:spcPts val="0"/>
              </a:spcBef>
              <a:spcAft>
                <a:spcPts val="0"/>
              </a:spcAft>
              <a:buNone/>
            </a:pPr>
            <a:r>
              <a:t/>
            </a:r>
            <a:endParaRPr b="1" sz="1200">
              <a:latin typeface="Arvo"/>
              <a:ea typeface="Arvo"/>
              <a:cs typeface="Arvo"/>
              <a:sym typeface="Arvo"/>
            </a:endParaRPr>
          </a:p>
          <a:p>
            <a:pPr indent="0" lvl="0" marL="0" rtl="0" algn="l">
              <a:lnSpc>
                <a:spcPct val="150000"/>
              </a:lnSpc>
              <a:spcBef>
                <a:spcPts val="0"/>
              </a:spcBef>
              <a:spcAft>
                <a:spcPts val="0"/>
              </a:spcAft>
              <a:buNone/>
            </a:pPr>
            <a:r>
              <a:t/>
            </a:r>
            <a:endParaRPr b="1"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Maximize insight into a dataset.</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Know its underlying dataset.</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Detect outliers and anomalies.</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Test Underlying assumptions.</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Check for missing data and other mistakes</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Univariate Bivariate and Multivariate analysis (Using as Pie Chart, Count Plot, Box Plot, Scatter Plot, Heat Map)</a:t>
            </a:r>
            <a:endParaRPr sz="1200">
              <a:latin typeface="Arvo"/>
              <a:ea typeface="Arvo"/>
              <a:cs typeface="Arvo"/>
              <a:sym typeface="Arvo"/>
            </a:endParaRPr>
          </a:p>
          <a:p>
            <a:pPr indent="-304800" lvl="0" marL="457200" rtl="0" algn="l">
              <a:lnSpc>
                <a:spcPct val="150000"/>
              </a:lnSpc>
              <a:spcBef>
                <a:spcPts val="0"/>
              </a:spcBef>
              <a:spcAft>
                <a:spcPts val="0"/>
              </a:spcAft>
              <a:buSzPts val="1200"/>
              <a:buFont typeface="Arvo"/>
              <a:buChar char="●"/>
            </a:pPr>
            <a:r>
              <a:rPr lang="en" sz="1200">
                <a:latin typeface="Arvo"/>
                <a:ea typeface="Arvo"/>
                <a:cs typeface="Arvo"/>
                <a:sym typeface="Arvo"/>
              </a:rPr>
              <a:t>Plotting raw data</a:t>
            </a:r>
            <a:endParaRPr sz="1200">
              <a:latin typeface="Arvo"/>
              <a:ea typeface="Arvo"/>
              <a:cs typeface="Arvo"/>
              <a:sym typeface="Arvo"/>
            </a:endParaRPr>
          </a:p>
          <a:p>
            <a:pPr indent="0" lvl="0" marL="457200" rtl="0" algn="l">
              <a:lnSpc>
                <a:spcPct val="150000"/>
              </a:lnSpc>
              <a:spcBef>
                <a:spcPts val="0"/>
              </a:spcBef>
              <a:spcAft>
                <a:spcPts val="0"/>
              </a:spcAft>
              <a:buNone/>
            </a:pPr>
            <a:r>
              <a:t/>
            </a:r>
            <a:endParaRPr sz="1200">
              <a:latin typeface="Arvo"/>
              <a:ea typeface="Arvo"/>
              <a:cs typeface="Arvo"/>
              <a:sym typeface="Ar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Visual Encoding</a:t>
            </a:r>
            <a:endParaRPr/>
          </a:p>
        </p:txBody>
      </p:sp>
      <p:sp>
        <p:nvSpPr>
          <p:cNvPr id="91" name="Google Shape;91;p17"/>
          <p:cNvSpPr txBox="1"/>
          <p:nvPr>
            <p:ph idx="1" type="subTitle"/>
          </p:nvPr>
        </p:nvSpPr>
        <p:spPr>
          <a:xfrm>
            <a:off x="311700" y="1878550"/>
            <a:ext cx="4568400" cy="7383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t/>
            </a:r>
            <a:endParaRPr>
              <a:latin typeface="Arvo"/>
              <a:ea typeface="Arvo"/>
              <a:cs typeface="Arvo"/>
              <a:sym typeface="Ar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97" name="Google Shape;97;p18"/>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98" name="Google Shape;98;p18"/>
          <p:cNvSpPr txBox="1"/>
          <p:nvPr/>
        </p:nvSpPr>
        <p:spPr>
          <a:xfrm>
            <a:off x="110250" y="156875"/>
            <a:ext cx="8923500" cy="578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Visual Encoding</a:t>
            </a:r>
            <a:endParaRPr b="1"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Visual encoding means how data is represented visually using shapes, colors, sizes, or positions in a chart or graph.</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It is the process of transforming data values into visual elements so people can easily understand the information.</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Or</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Visual encoding is the way we convert data into visuals — like using color, position, size, or shape — to represent information clearly.</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Types of Visual Encoding</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AutoNum type="arabicPeriod"/>
            </a:pPr>
            <a:r>
              <a:rPr lang="en" sz="1300">
                <a:latin typeface="Arvo"/>
                <a:ea typeface="Arvo"/>
                <a:cs typeface="Arvo"/>
                <a:sym typeface="Arvo"/>
              </a:rPr>
              <a:t>Planar: Planar encoding is a simple as drawing graphs across X and Y axis. Planar variables are suitable to present any </a:t>
            </a:r>
            <a:r>
              <a:rPr lang="en" sz="1300">
                <a:latin typeface="Arvo"/>
                <a:ea typeface="Arvo"/>
                <a:cs typeface="Arvo"/>
                <a:sym typeface="Arvo"/>
              </a:rPr>
              <a:t>quantitative</a:t>
            </a:r>
            <a:r>
              <a:rPr lang="en" sz="1300">
                <a:latin typeface="Arvo"/>
                <a:ea typeface="Arvo"/>
                <a:cs typeface="Arvo"/>
                <a:sym typeface="Arvo"/>
              </a:rPr>
              <a:t> data. (Use to represent 2 variables)</a:t>
            </a:r>
            <a:endParaRPr sz="1300">
              <a:latin typeface="Arvo"/>
              <a:ea typeface="Arvo"/>
              <a:cs typeface="Arvo"/>
              <a:sym typeface="Arvo"/>
            </a:endParaRPr>
          </a:p>
          <a:p>
            <a:pPr indent="-311150" lvl="0" marL="457200" rtl="0" algn="l">
              <a:lnSpc>
                <a:spcPct val="150000"/>
              </a:lnSpc>
              <a:spcBef>
                <a:spcPts val="0"/>
              </a:spcBef>
              <a:spcAft>
                <a:spcPts val="0"/>
              </a:spcAft>
              <a:buSzPts val="1300"/>
              <a:buFont typeface="Arvo"/>
              <a:buAutoNum type="arabicPeriod"/>
            </a:pPr>
            <a:r>
              <a:rPr lang="en" sz="1300">
                <a:latin typeface="Arvo"/>
                <a:ea typeface="Arvo"/>
                <a:cs typeface="Arvo"/>
                <a:sym typeface="Arvo"/>
              </a:rPr>
              <a:t>Retinal: Human beings are very sensitive to the retinal variable such as color, shape, size, orientation and other kind of properties. (Use to represent more than two variables)</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04" name="Google Shape;104;p19"/>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05" name="Google Shape;105;p19"/>
          <p:cNvSpPr txBox="1"/>
          <p:nvPr/>
        </p:nvSpPr>
        <p:spPr>
          <a:xfrm>
            <a:off x="110250" y="156875"/>
            <a:ext cx="8923500" cy="6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Planar Variable</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pic>
        <p:nvPicPr>
          <p:cNvPr id="106" name="Google Shape;106;p19"/>
          <p:cNvPicPr preferRelativeResize="0"/>
          <p:nvPr/>
        </p:nvPicPr>
        <p:blipFill>
          <a:blip r:embed="rId3">
            <a:alphaModFix/>
          </a:blip>
          <a:stretch>
            <a:fillRect/>
          </a:stretch>
        </p:blipFill>
        <p:spPr>
          <a:xfrm>
            <a:off x="351525" y="750900"/>
            <a:ext cx="4557020" cy="3136925"/>
          </a:xfrm>
          <a:prstGeom prst="rect">
            <a:avLst/>
          </a:prstGeom>
          <a:noFill/>
          <a:ln>
            <a:noFill/>
          </a:ln>
        </p:spPr>
      </p:pic>
      <p:sp>
        <p:nvSpPr>
          <p:cNvPr id="107" name="Google Shape;107;p19"/>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So what should we do then to present three or more variables? We can use the retinal variables!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13" name="Google Shape;113;p20"/>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14" name="Google Shape;114;p20"/>
          <p:cNvSpPr txBox="1"/>
          <p:nvPr/>
        </p:nvSpPr>
        <p:spPr>
          <a:xfrm>
            <a:off x="110250" y="156875"/>
            <a:ext cx="8923500" cy="158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Size:</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We know that size is important. You can see the difference right away. Small is innocuous, large is dangerous perhaps. Size is a good visualizer for the quantitative data.</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
        <p:nvSpPr>
          <p:cNvPr id="115" name="Google Shape;115;p20"/>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So what should we do then to present three or more variables? We can use the retinal variables!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16" name="Google Shape;116;p20"/>
          <p:cNvPicPr preferRelativeResize="0"/>
          <p:nvPr/>
        </p:nvPicPr>
        <p:blipFill>
          <a:blip r:embed="rId3">
            <a:alphaModFix/>
          </a:blip>
          <a:stretch>
            <a:fillRect/>
          </a:stretch>
        </p:blipFill>
        <p:spPr>
          <a:xfrm>
            <a:off x="152400" y="1894775"/>
            <a:ext cx="3409950" cy="1295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22" name="Google Shape;122;p21"/>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23" name="Google Shape;123;p21"/>
          <p:cNvSpPr txBox="1"/>
          <p:nvPr/>
        </p:nvSpPr>
        <p:spPr>
          <a:xfrm>
            <a:off x="110250" y="156875"/>
            <a:ext cx="8923500" cy="128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Texture</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Texture is less common. You can’t touch it on screen, and it’s usually less catchy than color. So, in theory texture can be used for soft encoding, but in practice it’s better to pass on it.</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
        <p:nvSpPr>
          <p:cNvPr id="124" name="Google Shape;124;p21"/>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25" name="Google Shape;125;p21"/>
          <p:cNvPicPr preferRelativeResize="0"/>
          <p:nvPr/>
        </p:nvPicPr>
        <p:blipFill>
          <a:blip r:embed="rId3">
            <a:alphaModFix/>
          </a:blip>
          <a:stretch>
            <a:fillRect/>
          </a:stretch>
        </p:blipFill>
        <p:spPr>
          <a:xfrm>
            <a:off x="152400" y="1594475"/>
            <a:ext cx="3362325" cy="1152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31" name="Google Shape;131;p22"/>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32" name="Google Shape;132;p22"/>
          <p:cNvSpPr txBox="1"/>
          <p:nvPr/>
        </p:nvSpPr>
        <p:spPr>
          <a:xfrm>
            <a:off x="110250" y="156875"/>
            <a:ext cx="8923500" cy="158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Shape</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Round circles ○, edgy stars ☆, solid rectangles █. We can easily distinguish dozens of shapes. They do work well sometimes for the visual encoding of categories.</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
        <p:nvSpPr>
          <p:cNvPr id="133" name="Google Shape;133;p22"/>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34" name="Google Shape;134;p22"/>
          <p:cNvPicPr preferRelativeResize="0"/>
          <p:nvPr/>
        </p:nvPicPr>
        <p:blipFill>
          <a:blip r:embed="rId3">
            <a:alphaModFix/>
          </a:blip>
          <a:stretch>
            <a:fillRect/>
          </a:stretch>
        </p:blipFill>
        <p:spPr>
          <a:xfrm>
            <a:off x="152400" y="1894775"/>
            <a:ext cx="3143250" cy="91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40" name="Google Shape;140;p23"/>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41" name="Google Shape;141;p23"/>
          <p:cNvSpPr txBox="1"/>
          <p:nvPr/>
        </p:nvSpPr>
        <p:spPr>
          <a:xfrm>
            <a:off x="110250" y="156875"/>
            <a:ext cx="8923500" cy="158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Orientation</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Orientation is tricky.</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While we’re able to clearly identify vertical vs. horizontal lines, it is harder to use it properly for visual encoding.</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
        <p:nvSpPr>
          <p:cNvPr id="142" name="Google Shape;142;p23"/>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43" name="Google Shape;143;p23"/>
          <p:cNvPicPr preferRelativeResize="0"/>
          <p:nvPr/>
        </p:nvPicPr>
        <p:blipFill>
          <a:blip r:embed="rId3">
            <a:alphaModFix/>
          </a:blip>
          <a:stretch>
            <a:fillRect/>
          </a:stretch>
        </p:blipFill>
        <p:spPr>
          <a:xfrm>
            <a:off x="152400" y="1894775"/>
            <a:ext cx="3048000" cy="971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49" name="Google Shape;149;p24"/>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50" name="Google Shape;150;p24"/>
          <p:cNvSpPr txBox="1"/>
          <p:nvPr/>
        </p:nvSpPr>
        <p:spPr>
          <a:xfrm>
            <a:off x="110250" y="156875"/>
            <a:ext cx="8923500" cy="128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latin typeface="Arvo"/>
                <a:ea typeface="Arvo"/>
                <a:cs typeface="Arvo"/>
                <a:sym typeface="Arvo"/>
              </a:rPr>
              <a:t>Color Value</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Any color value can be moved over a scale. Greyscale is a good example. While we can’t be certain that#999 color is lighter than #888, still it’s a helpful technique to visualize the ordered data</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
        <p:nvSpPr>
          <p:cNvPr id="151" name="Google Shape;151;p24"/>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52" name="Google Shape;152;p24"/>
          <p:cNvPicPr preferRelativeResize="0"/>
          <p:nvPr/>
        </p:nvPicPr>
        <p:blipFill>
          <a:blip r:embed="rId3">
            <a:alphaModFix/>
          </a:blip>
          <a:stretch>
            <a:fillRect/>
          </a:stretch>
        </p:blipFill>
        <p:spPr>
          <a:xfrm>
            <a:off x="152400" y="1594475"/>
            <a:ext cx="3124200" cy="1123950"/>
          </a:xfrm>
          <a:prstGeom prst="rect">
            <a:avLst/>
          </a:prstGeom>
          <a:noFill/>
          <a:ln>
            <a:noFill/>
          </a:ln>
        </p:spPr>
      </p:pic>
      <p:pic>
        <p:nvPicPr>
          <p:cNvPr id="153" name="Google Shape;153;p24"/>
          <p:cNvPicPr preferRelativeResize="0"/>
          <p:nvPr/>
        </p:nvPicPr>
        <p:blipFill>
          <a:blip r:embed="rId4">
            <a:alphaModFix/>
          </a:blip>
          <a:stretch>
            <a:fillRect/>
          </a:stretch>
        </p:blipFill>
        <p:spPr>
          <a:xfrm>
            <a:off x="483950" y="2531925"/>
            <a:ext cx="5562600" cy="17719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59" name="Google Shape;159;p25"/>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60" name="Google Shape;160;p25"/>
          <p:cNvSpPr txBox="1"/>
          <p:nvPr/>
        </p:nvSpPr>
        <p:spPr>
          <a:xfrm>
            <a:off x="110250" y="156875"/>
            <a:ext cx="8923500" cy="86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latin typeface="Arvo"/>
                <a:ea typeface="Arvo"/>
                <a:cs typeface="Arvo"/>
                <a:sym typeface="Arvo"/>
              </a:rPr>
              <a:t>That’s how the world map can be used to visualize the medal counts. Very smart. There are names for nations with many medals, all the rest can be identified by their geographic position (everybody knows where New Zealand)</a:t>
            </a:r>
            <a:endParaRPr sz="1100">
              <a:latin typeface="Arvo"/>
              <a:ea typeface="Arvo"/>
              <a:cs typeface="Arvo"/>
              <a:sym typeface="Arvo"/>
            </a:endParaRPr>
          </a:p>
          <a:p>
            <a:pPr indent="0" lvl="0" marL="0" rtl="0" algn="l">
              <a:lnSpc>
                <a:spcPct val="150000"/>
              </a:lnSpc>
              <a:spcBef>
                <a:spcPts val="0"/>
              </a:spcBef>
              <a:spcAft>
                <a:spcPts val="0"/>
              </a:spcAft>
              <a:buNone/>
            </a:pPr>
            <a:r>
              <a:t/>
            </a:r>
            <a:endParaRPr sz="1100">
              <a:latin typeface="Arvo"/>
              <a:ea typeface="Arvo"/>
              <a:cs typeface="Arvo"/>
              <a:sym typeface="Arvo"/>
            </a:endParaRPr>
          </a:p>
        </p:txBody>
      </p:sp>
      <p:sp>
        <p:nvSpPr>
          <p:cNvPr id="161" name="Google Shape;161;p25"/>
          <p:cNvSpPr txBox="1"/>
          <p:nvPr/>
        </p:nvSpPr>
        <p:spPr>
          <a:xfrm>
            <a:off x="183275" y="3942300"/>
            <a:ext cx="8520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62" name="Google Shape;162;p25"/>
          <p:cNvPicPr preferRelativeResize="0"/>
          <p:nvPr/>
        </p:nvPicPr>
        <p:blipFill>
          <a:blip r:embed="rId3">
            <a:alphaModFix/>
          </a:blip>
          <a:stretch>
            <a:fillRect/>
          </a:stretch>
        </p:blipFill>
        <p:spPr>
          <a:xfrm>
            <a:off x="152400" y="939175"/>
            <a:ext cx="5378724" cy="2850725"/>
          </a:xfrm>
          <a:prstGeom prst="rect">
            <a:avLst/>
          </a:prstGeom>
          <a:noFill/>
          <a:ln>
            <a:noFill/>
          </a:ln>
        </p:spPr>
      </p:pic>
      <p:sp>
        <p:nvSpPr>
          <p:cNvPr id="163" name="Google Shape;163;p25"/>
          <p:cNvSpPr txBox="1"/>
          <p:nvPr/>
        </p:nvSpPr>
        <p:spPr>
          <a:xfrm>
            <a:off x="6297400" y="1843425"/>
            <a:ext cx="1908000" cy="16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1E2124"/>
                </a:solidFill>
                <a:highlight>
                  <a:srgbClr val="FFFFFF"/>
                </a:highlight>
                <a:latin typeface="Lato"/>
                <a:ea typeface="Lato"/>
                <a:cs typeface="Lato"/>
                <a:sym typeface="Lato"/>
              </a:rPr>
              <a:t>Visual encoding variables:</a:t>
            </a:r>
            <a:endParaRPr sz="1200">
              <a:solidFill>
                <a:srgbClr val="1E2124"/>
              </a:solidFill>
              <a:highlight>
                <a:srgbClr val="FFFFFF"/>
              </a:highlight>
              <a:latin typeface="Lato"/>
              <a:ea typeface="Lato"/>
              <a:cs typeface="Lato"/>
              <a:sym typeface="Lato"/>
            </a:endParaRPr>
          </a:p>
          <a:p>
            <a:pPr indent="-228600" lvl="0" marL="457200" rtl="0" algn="l">
              <a:lnSpc>
                <a:spcPct val="130000"/>
              </a:lnSpc>
              <a:spcBef>
                <a:spcPts val="1200"/>
              </a:spcBef>
              <a:spcAft>
                <a:spcPts val="0"/>
              </a:spcAft>
              <a:buClr>
                <a:srgbClr val="1E2124"/>
              </a:buClr>
              <a:buSzPts val="1200"/>
              <a:buFont typeface="Lato"/>
              <a:buNone/>
            </a:pPr>
            <a:r>
              <a:rPr lang="en" sz="1200">
                <a:solidFill>
                  <a:srgbClr val="1E2124"/>
                </a:solidFill>
                <a:highlight>
                  <a:srgbClr val="FFFFFF"/>
                </a:highlight>
                <a:latin typeface="Lato"/>
                <a:ea typeface="Lato"/>
                <a:cs typeface="Lato"/>
                <a:sym typeface="Lato"/>
              </a:rPr>
              <a:t>Color: continent</a:t>
            </a:r>
            <a:endParaRPr sz="1200">
              <a:solidFill>
                <a:srgbClr val="1E2124"/>
              </a:solidFill>
              <a:highlight>
                <a:srgbClr val="FFFFFF"/>
              </a:highlight>
              <a:latin typeface="Lato"/>
              <a:ea typeface="Lato"/>
              <a:cs typeface="Lato"/>
              <a:sym typeface="Lato"/>
            </a:endParaRPr>
          </a:p>
          <a:p>
            <a:pPr indent="-228600" lvl="0" marL="457200" rtl="0" algn="l">
              <a:lnSpc>
                <a:spcPct val="130000"/>
              </a:lnSpc>
              <a:spcBef>
                <a:spcPts val="0"/>
              </a:spcBef>
              <a:spcAft>
                <a:spcPts val="0"/>
              </a:spcAft>
              <a:buClr>
                <a:srgbClr val="1E2124"/>
              </a:buClr>
              <a:buSzPts val="1200"/>
              <a:buFont typeface="Lato"/>
              <a:buNone/>
            </a:pPr>
            <a:r>
              <a:rPr lang="en" sz="1200">
                <a:solidFill>
                  <a:srgbClr val="1E2124"/>
                </a:solidFill>
                <a:highlight>
                  <a:srgbClr val="FFFFFF"/>
                </a:highlight>
                <a:latin typeface="Lato"/>
                <a:ea typeface="Lato"/>
                <a:cs typeface="Lato"/>
                <a:sym typeface="Lato"/>
              </a:rPr>
              <a:t>Size: medals count</a:t>
            </a:r>
            <a:endParaRPr sz="1200">
              <a:solidFill>
                <a:srgbClr val="1E2124"/>
              </a:solidFill>
              <a:highlight>
                <a:srgbClr val="FFFFFF"/>
              </a:highlight>
              <a:latin typeface="Lato"/>
              <a:ea typeface="Lato"/>
              <a:cs typeface="Lato"/>
              <a:sym typeface="Lato"/>
            </a:endParaRPr>
          </a:p>
          <a:p>
            <a:pPr indent="-228600" lvl="0" marL="457200" rtl="0" algn="l">
              <a:lnSpc>
                <a:spcPct val="130000"/>
              </a:lnSpc>
              <a:spcBef>
                <a:spcPts val="0"/>
              </a:spcBef>
              <a:spcAft>
                <a:spcPts val="0"/>
              </a:spcAft>
              <a:buClr>
                <a:srgbClr val="1E2124"/>
              </a:buClr>
              <a:buSzPts val="1200"/>
              <a:buFont typeface="Lato"/>
              <a:buNone/>
            </a:pPr>
            <a:r>
              <a:rPr lang="en" sz="1200">
                <a:solidFill>
                  <a:srgbClr val="1E2124"/>
                </a:solidFill>
                <a:highlight>
                  <a:srgbClr val="FFFFFF"/>
                </a:highlight>
                <a:latin typeface="Lato"/>
                <a:ea typeface="Lato"/>
                <a:cs typeface="Lato"/>
                <a:sym typeface="Lato"/>
              </a:rPr>
              <a:t>X and Y: the world map</a:t>
            </a:r>
            <a:endParaRPr sz="1200">
              <a:solidFill>
                <a:srgbClr val="1E2124"/>
              </a:solidFill>
              <a:highlight>
                <a:srgbClr val="FFFFFF"/>
              </a:highlight>
              <a:latin typeface="Lato"/>
              <a:ea typeface="Lato"/>
              <a:cs typeface="Lato"/>
              <a:sym typeface="La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69" name="Google Shape;169;p26"/>
          <p:cNvSpPr txBox="1"/>
          <p:nvPr/>
        </p:nvSpPr>
        <p:spPr>
          <a:xfrm>
            <a:off x="352300" y="234875"/>
            <a:ext cx="8079300" cy="37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t>Visual encoding in data visualization refers to the method of representing data values through visual elements such as position, color, shape, size, and orientation. The goal is to translate data into a format that is easy to interpret and analyze visually. Here’s an overview of common visual encoding techniques with examples:</a:t>
            </a:r>
            <a:endParaRPr sz="1100"/>
          </a:p>
          <a:p>
            <a:pPr indent="0" lvl="0" marL="0" rtl="0" algn="l">
              <a:lnSpc>
                <a:spcPct val="115000"/>
              </a:lnSpc>
              <a:spcBef>
                <a:spcPts val="1400"/>
              </a:spcBef>
              <a:spcAft>
                <a:spcPts val="0"/>
              </a:spcAft>
              <a:buNone/>
            </a:pPr>
            <a:r>
              <a:rPr b="1" lang="en" sz="1300"/>
              <a:t>1. Position</a:t>
            </a:r>
            <a:endParaRPr b="1" sz="1300"/>
          </a:p>
          <a:p>
            <a:pPr indent="-298450" lvl="0" marL="457200" rtl="0" algn="l">
              <a:lnSpc>
                <a:spcPct val="115000"/>
              </a:lnSpc>
              <a:spcBef>
                <a:spcPts val="1200"/>
              </a:spcBef>
              <a:spcAft>
                <a:spcPts val="0"/>
              </a:spcAft>
              <a:buSzPts val="1100"/>
              <a:buChar char="●"/>
            </a:pPr>
            <a:r>
              <a:rPr b="1" lang="en" sz="1100"/>
              <a:t>Example</a:t>
            </a:r>
            <a:r>
              <a:rPr lang="en" sz="1100"/>
              <a:t>: In a scatter plot, data points are positioned based on their values on the x-axis and y-axis. For instance, a scatter plot showing the relationship between height and weight uses position to represent the height on one axis and weight on the other.</a:t>
            </a:r>
            <a:endParaRPr sz="1100"/>
          </a:p>
          <a:p>
            <a:pPr indent="0" lvl="0" marL="0" rtl="0" algn="l">
              <a:lnSpc>
                <a:spcPct val="115000"/>
              </a:lnSpc>
              <a:spcBef>
                <a:spcPts val="1400"/>
              </a:spcBef>
              <a:spcAft>
                <a:spcPts val="0"/>
              </a:spcAft>
              <a:buNone/>
            </a:pPr>
            <a:r>
              <a:rPr b="1" lang="en" sz="1300"/>
              <a:t>2. Length</a:t>
            </a:r>
            <a:endParaRPr b="1" sz="1300"/>
          </a:p>
          <a:p>
            <a:pPr indent="-298450" lvl="0" marL="457200" rtl="0" algn="l">
              <a:lnSpc>
                <a:spcPct val="115000"/>
              </a:lnSpc>
              <a:spcBef>
                <a:spcPts val="1200"/>
              </a:spcBef>
              <a:spcAft>
                <a:spcPts val="0"/>
              </a:spcAft>
              <a:buSzPts val="1100"/>
              <a:buChar char="●"/>
            </a:pPr>
            <a:r>
              <a:rPr b="1" lang="en" sz="1100"/>
              <a:t>Example</a:t>
            </a:r>
            <a:r>
              <a:rPr lang="en" sz="1100"/>
              <a:t>: Bar charts use length to represent data values. For instance, a bar chart displaying monthly sales figures uses the length of each bar to indicate the sales amount, with longer bars representing higher sales.</a:t>
            </a:r>
            <a:endParaRPr sz="1100"/>
          </a:p>
          <a:p>
            <a:pPr indent="0" lvl="0" marL="0" rtl="0" algn="l">
              <a:lnSpc>
                <a:spcPct val="115000"/>
              </a:lnSpc>
              <a:spcBef>
                <a:spcPts val="1400"/>
              </a:spcBef>
              <a:spcAft>
                <a:spcPts val="0"/>
              </a:spcAft>
              <a:buNone/>
            </a:pPr>
            <a:r>
              <a:rPr b="1" lang="en" sz="1300"/>
              <a:t>3. Area</a:t>
            </a:r>
            <a:endParaRPr b="1" sz="1300"/>
          </a:p>
          <a:p>
            <a:pPr indent="-298450" lvl="0" marL="457200" rtl="0" algn="l">
              <a:lnSpc>
                <a:spcPct val="115000"/>
              </a:lnSpc>
              <a:spcBef>
                <a:spcPts val="1200"/>
              </a:spcBef>
              <a:spcAft>
                <a:spcPts val="0"/>
              </a:spcAft>
              <a:buSzPts val="1100"/>
              <a:buChar char="●"/>
            </a:pPr>
            <a:r>
              <a:rPr b="1" lang="en" sz="1100"/>
              <a:t>Example</a:t>
            </a:r>
            <a:r>
              <a:rPr lang="en" sz="1100"/>
              <a:t>: Bubble charts use the area of circles to represent data values. For example, a bubble chart might use the area of each bubble to represent the market share of different companies, with larger bubbles indicating a larger market share.</a:t>
            </a:r>
            <a:endParaRPr sz="1100"/>
          </a:p>
          <a:p>
            <a:pPr indent="0" lvl="0" marL="0" rtl="0" algn="l">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75" name="Google Shape;175;p27"/>
          <p:cNvSpPr txBox="1"/>
          <p:nvPr/>
        </p:nvSpPr>
        <p:spPr>
          <a:xfrm>
            <a:off x="352300" y="234875"/>
            <a:ext cx="8079300" cy="37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t>4. Angle</a:t>
            </a:r>
            <a:endParaRPr b="1" sz="1300"/>
          </a:p>
          <a:p>
            <a:pPr indent="-298450" lvl="0" marL="457200" rtl="0" algn="l">
              <a:lnSpc>
                <a:spcPct val="115000"/>
              </a:lnSpc>
              <a:spcBef>
                <a:spcPts val="1200"/>
              </a:spcBef>
              <a:spcAft>
                <a:spcPts val="0"/>
              </a:spcAft>
              <a:buSzPts val="1100"/>
              <a:buChar char="●"/>
            </a:pPr>
            <a:r>
              <a:rPr b="1" lang="en" sz="1100"/>
              <a:t>Example</a:t>
            </a:r>
            <a:r>
              <a:rPr lang="en" sz="1100"/>
              <a:t>: In pie charts, angles of slices represent proportions of a whole. For instance, a pie chart showing the market share of different products uses the angle of each slice to show each product’s percentage of the total market.</a:t>
            </a:r>
            <a:endParaRPr sz="1100"/>
          </a:p>
          <a:p>
            <a:pPr indent="0" lvl="0" marL="0" rtl="0" algn="l">
              <a:lnSpc>
                <a:spcPct val="115000"/>
              </a:lnSpc>
              <a:spcBef>
                <a:spcPts val="1400"/>
              </a:spcBef>
              <a:spcAft>
                <a:spcPts val="0"/>
              </a:spcAft>
              <a:buNone/>
            </a:pPr>
            <a:r>
              <a:rPr b="1" lang="en" sz="1300"/>
              <a:t>5. Color</a:t>
            </a:r>
            <a:endParaRPr b="1" sz="1300"/>
          </a:p>
          <a:p>
            <a:pPr indent="-298450" lvl="0" marL="457200" rtl="0" algn="l">
              <a:lnSpc>
                <a:spcPct val="115000"/>
              </a:lnSpc>
              <a:spcBef>
                <a:spcPts val="1200"/>
              </a:spcBef>
              <a:spcAft>
                <a:spcPts val="0"/>
              </a:spcAft>
              <a:buSzPts val="1100"/>
              <a:buChar char="●"/>
            </a:pPr>
            <a:r>
              <a:rPr b="1" lang="en" sz="1100"/>
              <a:t>Example</a:t>
            </a:r>
            <a:r>
              <a:rPr lang="en" sz="1100"/>
              <a:t>: Heat maps use color to represent data values. For example, a heat map showing the number of website visitors by time of day uses varying colors to indicate the number of visitors, with warmer colors (like red) representing higher numbers and cooler colors (like blue) representing lower numbers.</a:t>
            </a:r>
            <a:endParaRPr sz="1100"/>
          </a:p>
          <a:p>
            <a:pPr indent="0" lvl="0" marL="0" rtl="0" algn="l">
              <a:lnSpc>
                <a:spcPct val="115000"/>
              </a:lnSpc>
              <a:spcBef>
                <a:spcPts val="1400"/>
              </a:spcBef>
              <a:spcAft>
                <a:spcPts val="0"/>
              </a:spcAft>
              <a:buNone/>
            </a:pPr>
            <a:r>
              <a:rPr b="1" lang="en" sz="1300"/>
              <a:t>6. Shape</a:t>
            </a:r>
            <a:endParaRPr b="1" sz="1300"/>
          </a:p>
          <a:p>
            <a:pPr indent="-298450" lvl="0" marL="457200" rtl="0" algn="l">
              <a:lnSpc>
                <a:spcPct val="115000"/>
              </a:lnSpc>
              <a:spcBef>
                <a:spcPts val="1200"/>
              </a:spcBef>
              <a:spcAft>
                <a:spcPts val="0"/>
              </a:spcAft>
              <a:buSzPts val="1100"/>
              <a:buChar char="●"/>
            </a:pPr>
            <a:r>
              <a:rPr b="1" lang="en" sz="1100"/>
              <a:t>Example</a:t>
            </a:r>
            <a:r>
              <a:rPr lang="en" sz="1100"/>
              <a:t>: In a scatter plot, different shapes can represent different categories. For example, a scatter plot showing the performance of students in various subjects might use circles for math scores and squares for science scores.</a:t>
            </a:r>
            <a:endParaRPr sz="1100"/>
          </a:p>
          <a:p>
            <a:pPr indent="0" lvl="0" marL="0" rtl="0" algn="l">
              <a:lnSpc>
                <a:spcPct val="115000"/>
              </a:lnSpc>
              <a:spcBef>
                <a:spcPts val="1400"/>
              </a:spcBef>
              <a:spcAft>
                <a:spcPts val="0"/>
              </a:spcAft>
              <a:buNone/>
            </a:pPr>
            <a:r>
              <a:rPr b="1" lang="en" sz="1300"/>
              <a:t>7. Texture</a:t>
            </a:r>
            <a:endParaRPr b="1" sz="1300"/>
          </a:p>
          <a:p>
            <a:pPr indent="-298450" lvl="0" marL="457200" rtl="0" algn="l">
              <a:lnSpc>
                <a:spcPct val="115000"/>
              </a:lnSpc>
              <a:spcBef>
                <a:spcPts val="1200"/>
              </a:spcBef>
              <a:spcAft>
                <a:spcPts val="0"/>
              </a:spcAft>
              <a:buSzPts val="1100"/>
              <a:buChar char="●"/>
            </a:pPr>
            <a:r>
              <a:rPr b="1" lang="en" sz="1100"/>
              <a:t>Example</a:t>
            </a:r>
            <a:r>
              <a:rPr lang="en" sz="1100"/>
              <a:t>: In some charts, different textures or patterns can differentiate between data sets. For example, a bar chart might use solid bars for one year’s data and striped bars for another year’s data to visually distinguish between the two.</a:t>
            </a:r>
            <a:endParaRPr sz="1100"/>
          </a:p>
          <a:p>
            <a:pPr indent="0" lvl="0" marL="0" rtl="0" algn="l">
              <a:spcBef>
                <a:spcPts val="1200"/>
              </a:spcBef>
              <a:spcAft>
                <a:spcPts val="0"/>
              </a:spcAft>
              <a:buNone/>
            </a:pPr>
            <a:r>
              <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81" name="Google Shape;181;p28"/>
          <p:cNvSpPr txBox="1"/>
          <p:nvPr/>
        </p:nvSpPr>
        <p:spPr>
          <a:xfrm>
            <a:off x="352300" y="234875"/>
            <a:ext cx="8079300" cy="37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t>8. Size</a:t>
            </a:r>
            <a:endParaRPr b="1" sz="1300"/>
          </a:p>
          <a:p>
            <a:pPr indent="-298450" lvl="0" marL="457200" rtl="0" algn="l">
              <a:lnSpc>
                <a:spcPct val="115000"/>
              </a:lnSpc>
              <a:spcBef>
                <a:spcPts val="1200"/>
              </a:spcBef>
              <a:spcAft>
                <a:spcPts val="0"/>
              </a:spcAft>
              <a:buSzPts val="1100"/>
              <a:buChar char="●"/>
            </a:pPr>
            <a:r>
              <a:rPr b="1" lang="en" sz="1100"/>
              <a:t>Example</a:t>
            </a:r>
            <a:r>
              <a:rPr lang="en" sz="1100"/>
              <a:t>: In a bubble chart, the size of each bubble can represent an additional variable, such as the population of different cities. Larger bubbles would represent larger populations.</a:t>
            </a:r>
            <a:endParaRPr sz="1100"/>
          </a:p>
          <a:p>
            <a:pPr indent="0" lvl="0" marL="0" rtl="0" algn="l">
              <a:lnSpc>
                <a:spcPct val="115000"/>
              </a:lnSpc>
              <a:spcBef>
                <a:spcPts val="1400"/>
              </a:spcBef>
              <a:spcAft>
                <a:spcPts val="0"/>
              </a:spcAft>
              <a:buNone/>
            </a:pPr>
            <a:r>
              <a:rPr b="1" lang="en" sz="1300"/>
              <a:t>9. Orientation</a:t>
            </a:r>
            <a:endParaRPr b="1" sz="1300"/>
          </a:p>
          <a:p>
            <a:pPr indent="-298450" lvl="0" marL="457200" rtl="0" algn="l">
              <a:lnSpc>
                <a:spcPct val="115000"/>
              </a:lnSpc>
              <a:spcBef>
                <a:spcPts val="1200"/>
              </a:spcBef>
              <a:spcAft>
                <a:spcPts val="0"/>
              </a:spcAft>
              <a:buSzPts val="1100"/>
              <a:buChar char="●"/>
            </a:pPr>
            <a:r>
              <a:rPr b="1" lang="en" sz="1100"/>
              <a:t>Example</a:t>
            </a:r>
            <a:r>
              <a:rPr lang="en" sz="1100"/>
              <a:t>: In a bar chart, horizontal vs. vertical bars can indicate different types of data or emphasis. For instance, a vertical bar chart might be used to show time-based data, while a horizontal bar chart might be used to show categorical data.</a:t>
            </a:r>
            <a:endParaRPr sz="1100"/>
          </a:p>
          <a:p>
            <a:pPr indent="0" lvl="0" marL="0" rtl="0" algn="l">
              <a:lnSpc>
                <a:spcPct val="115000"/>
              </a:lnSpc>
              <a:spcBef>
                <a:spcPts val="1400"/>
              </a:spcBef>
              <a:spcAft>
                <a:spcPts val="0"/>
              </a:spcAft>
              <a:buNone/>
            </a:pPr>
            <a:r>
              <a:rPr b="1" lang="en" sz="1300"/>
              <a:t>10. Line Style</a:t>
            </a:r>
            <a:endParaRPr b="1" sz="1300"/>
          </a:p>
          <a:p>
            <a:pPr indent="-298450" lvl="0" marL="457200" rtl="0" algn="l">
              <a:lnSpc>
                <a:spcPct val="115000"/>
              </a:lnSpc>
              <a:spcBef>
                <a:spcPts val="1200"/>
              </a:spcBef>
              <a:spcAft>
                <a:spcPts val="0"/>
              </a:spcAft>
              <a:buSzPts val="1100"/>
              <a:buChar char="●"/>
            </a:pPr>
            <a:r>
              <a:rPr b="1" lang="en" sz="1100"/>
              <a:t>Example</a:t>
            </a:r>
            <a:r>
              <a:rPr lang="en" sz="1100"/>
              <a:t>: In line charts, different line styles (solid, dashed, dotted) can represent different data series. For example, a line chart tracking the performance of various stocks might use solid lines for one stock, dashed lines for another, and dotted lines for a third.</a:t>
            </a:r>
            <a:endParaRPr sz="1100"/>
          </a:p>
          <a:p>
            <a:pPr indent="0" lvl="0" marL="0" rtl="0" algn="l">
              <a:spcBef>
                <a:spcPts val="1200"/>
              </a:spcBef>
              <a:spcAft>
                <a:spcPts val="0"/>
              </a:spcAft>
              <a:buNone/>
            </a:pPr>
            <a:r>
              <a:t/>
            </a:r>
            <a:endParaRPr b="1" sz="13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87" name="Google Shape;187;p29"/>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88" name="Google Shape;188;p29"/>
          <p:cNvSpPr txBox="1"/>
          <p:nvPr/>
        </p:nvSpPr>
        <p:spPr>
          <a:xfrm>
            <a:off x="110250" y="156875"/>
            <a:ext cx="8923500" cy="5031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Role of Data visualization and its corresponding visualization tool</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15000"/>
              </a:lnSpc>
              <a:spcBef>
                <a:spcPts val="1200"/>
              </a:spcBef>
              <a:spcAft>
                <a:spcPts val="0"/>
              </a:spcAft>
              <a:buNone/>
            </a:pPr>
            <a:r>
              <a:rPr lang="en"/>
              <a:t>Data visualization is the graphical representation of information and data. By using visual elements like charts, graphs, maps, and dashboards, visualization tools make data more accessible, understandable, and actionable.</a:t>
            </a:r>
            <a:endParaRPr/>
          </a:p>
          <a:p>
            <a:pPr indent="0" lvl="0" marL="0" rtl="0" algn="l">
              <a:lnSpc>
                <a:spcPct val="115000"/>
              </a:lnSpc>
              <a:spcBef>
                <a:spcPts val="1200"/>
              </a:spcBef>
              <a:spcAft>
                <a:spcPts val="0"/>
              </a:spcAft>
              <a:buNone/>
            </a:pPr>
            <a:r>
              <a:rPr lang="en"/>
              <a:t>It helps in:</a:t>
            </a:r>
            <a:endParaRPr/>
          </a:p>
          <a:p>
            <a:pPr indent="-317500" lvl="0" marL="457200" rtl="0" algn="l">
              <a:lnSpc>
                <a:spcPct val="115000"/>
              </a:lnSpc>
              <a:spcBef>
                <a:spcPts val="1200"/>
              </a:spcBef>
              <a:spcAft>
                <a:spcPts val="0"/>
              </a:spcAft>
              <a:buSzPts val="1400"/>
              <a:buChar char="●"/>
            </a:pPr>
            <a:r>
              <a:rPr b="1" lang="en"/>
              <a:t>Exploring data</a:t>
            </a:r>
            <a:r>
              <a:rPr lang="en"/>
              <a:t> to find trends, anomalies, and insights.</a:t>
            </a:r>
            <a:br>
              <a:rPr lang="en"/>
            </a:br>
            <a:endParaRPr/>
          </a:p>
          <a:p>
            <a:pPr indent="-317500" lvl="0" marL="457200" rtl="0" algn="l">
              <a:lnSpc>
                <a:spcPct val="115000"/>
              </a:lnSpc>
              <a:spcBef>
                <a:spcPts val="0"/>
              </a:spcBef>
              <a:spcAft>
                <a:spcPts val="0"/>
              </a:spcAft>
              <a:buSzPts val="1400"/>
              <a:buChar char="●"/>
            </a:pPr>
            <a:r>
              <a:rPr b="1" lang="en"/>
              <a:t>Communicating information</a:t>
            </a:r>
            <a:r>
              <a:rPr lang="en"/>
              <a:t> clearly to both technical and non-technical audiences.</a:t>
            </a:r>
            <a:br>
              <a:rPr lang="en"/>
            </a:br>
            <a:endParaRPr/>
          </a:p>
          <a:p>
            <a:pPr indent="-317500" lvl="0" marL="457200" rtl="0" algn="l">
              <a:lnSpc>
                <a:spcPct val="115000"/>
              </a:lnSpc>
              <a:spcBef>
                <a:spcPts val="0"/>
              </a:spcBef>
              <a:spcAft>
                <a:spcPts val="0"/>
              </a:spcAft>
              <a:buSzPts val="1400"/>
              <a:buChar char="●"/>
            </a:pPr>
            <a:r>
              <a:rPr b="1" lang="en"/>
              <a:t>Supporting decision-making</a:t>
            </a:r>
            <a:r>
              <a:rPr lang="en"/>
              <a:t> by transforming raw data into meaningful visuals.</a:t>
            </a:r>
            <a:endParaRPr/>
          </a:p>
          <a:p>
            <a:pPr indent="0" lvl="0" marL="0" rtl="0" algn="l">
              <a:lnSpc>
                <a:spcPct val="150000"/>
              </a:lnSpc>
              <a:spcBef>
                <a:spcPts val="120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194" name="Google Shape;194;p30"/>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195" name="Google Shape;195;p30"/>
          <p:cNvSpPr txBox="1"/>
          <p:nvPr/>
        </p:nvSpPr>
        <p:spPr>
          <a:xfrm>
            <a:off x="110250" y="156875"/>
            <a:ext cx="8923500" cy="398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1. Distribution</a:t>
            </a:r>
            <a:endParaRPr b="1"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Shows how data values are spread across a range. It helps in identifying frequency, spread, and outliers.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Understand the spread and central tendency of data.</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Histogram, Box Plot, Violin Plot, Density Plot.</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Visualizing exam scores of students to see performance patterns.</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b="1" lang="en" sz="1300">
                <a:latin typeface="Arvo"/>
                <a:ea typeface="Arvo"/>
                <a:cs typeface="Arvo"/>
                <a:sym typeface="Arvo"/>
              </a:rPr>
              <a:t>2. Relationship</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Depicts how two or more variables relate to each other — showing correlation or dependency.</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Identify positive, negative, or no relationships between variables.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Scatter Plot, Bubble Chart, Pair Plot, Heatmap.</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Plotting “Hours Studied vs Marks Scored” to see if studying more increases performance.</a:t>
            </a:r>
            <a:endParaRPr sz="1300">
              <a:latin typeface="Arvo"/>
              <a:ea typeface="Arvo"/>
              <a:cs typeface="Arvo"/>
              <a:sym typeface="Arv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201" name="Google Shape;201;p31"/>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202" name="Google Shape;202;p31"/>
          <p:cNvSpPr txBox="1"/>
          <p:nvPr/>
        </p:nvSpPr>
        <p:spPr>
          <a:xfrm>
            <a:off x="110250" y="156875"/>
            <a:ext cx="8923500" cy="368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Comparison</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Used to compare categories, groups, or time periods to observe similarities and differences.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Show how values differ across groups or over time.</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Bar Chart, Column Chart, Line Chart, Grouped Bar Chart.</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Comparing monthly sales of different products or yearly revenue growth.</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rPr b="1" lang="en" sz="1300">
                <a:latin typeface="Arvo"/>
                <a:ea typeface="Arvo"/>
                <a:cs typeface="Arvo"/>
                <a:sym typeface="Arvo"/>
              </a:rPr>
              <a:t>Composition</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Displays how individual parts make up a whole and their relative proportions.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Understand contribution of each component to the total.</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Pie Chart, Stacked Bar/Area Chart, Treemap, Donut Chart.</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Visualizing percentage of students in different departments or share of market products.</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 sz="1425">
                <a:latin typeface="Arvo"/>
                <a:ea typeface="Arvo"/>
                <a:cs typeface="Arvo"/>
                <a:sym typeface="Arvo"/>
              </a:rPr>
              <a:t>Foundation of Data Science</a:t>
            </a:r>
            <a:endParaRPr sz="1425">
              <a:latin typeface="Arvo"/>
              <a:ea typeface="Arvo"/>
              <a:cs typeface="Arvo"/>
              <a:sym typeface="Arvo"/>
            </a:endParaRPr>
          </a:p>
        </p:txBody>
      </p:sp>
      <p:sp>
        <p:nvSpPr>
          <p:cNvPr id="208" name="Google Shape;208;p32"/>
          <p:cNvSpPr txBox="1"/>
          <p:nvPr/>
        </p:nvSpPr>
        <p:spPr>
          <a:xfrm>
            <a:off x="396175" y="675575"/>
            <a:ext cx="7520700" cy="404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t/>
            </a:r>
            <a:endParaRPr sz="1425">
              <a:solidFill>
                <a:srgbClr val="212121"/>
              </a:solidFill>
              <a:latin typeface="Arvo"/>
              <a:ea typeface="Arvo"/>
              <a:cs typeface="Arvo"/>
              <a:sym typeface="Arvo"/>
            </a:endParaRPr>
          </a:p>
        </p:txBody>
      </p:sp>
      <p:sp>
        <p:nvSpPr>
          <p:cNvPr id="209" name="Google Shape;209;p32"/>
          <p:cNvSpPr txBox="1"/>
          <p:nvPr/>
        </p:nvSpPr>
        <p:spPr>
          <a:xfrm>
            <a:off x="110250" y="156875"/>
            <a:ext cx="8923500" cy="428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300">
                <a:latin typeface="Arvo"/>
                <a:ea typeface="Arvo"/>
                <a:cs typeface="Arvo"/>
                <a:sym typeface="Arvo"/>
              </a:rPr>
              <a:t>Location</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Used to show spatial data or geographical patterns.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Visualize data distribution across physical or geographical regions.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Map, Heatmap, Choropleth Map, Symbol Map.</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Displaying COVID-19 cases across states or customer density by city.</a:t>
            </a:r>
            <a:endParaRPr sz="1300">
              <a:latin typeface="Arvo"/>
              <a:ea typeface="Arvo"/>
              <a:cs typeface="Arvo"/>
              <a:sym typeface="Arvo"/>
            </a:endParaRPr>
          </a:p>
          <a:p>
            <a:pPr indent="0" lvl="0" marL="0" rtl="0" algn="l">
              <a:lnSpc>
                <a:spcPct val="150000"/>
              </a:lnSpc>
              <a:spcBef>
                <a:spcPts val="0"/>
              </a:spcBef>
              <a:spcAft>
                <a:spcPts val="0"/>
              </a:spcAft>
              <a:buNone/>
            </a:pPr>
            <a:r>
              <a:t/>
            </a:r>
            <a:endParaRPr b="1" sz="1300">
              <a:latin typeface="Arvo"/>
              <a:ea typeface="Arvo"/>
              <a:cs typeface="Arvo"/>
              <a:sym typeface="Arvo"/>
            </a:endParaRPr>
          </a:p>
          <a:p>
            <a:pPr indent="0" lvl="0" marL="0" rtl="0" algn="l">
              <a:lnSpc>
                <a:spcPct val="150000"/>
              </a:lnSpc>
              <a:spcBef>
                <a:spcPts val="0"/>
              </a:spcBef>
              <a:spcAft>
                <a:spcPts val="0"/>
              </a:spcAft>
              <a:buNone/>
            </a:pPr>
            <a:r>
              <a:rPr b="1" lang="en" sz="1300">
                <a:latin typeface="Arvo"/>
                <a:ea typeface="Arvo"/>
                <a:cs typeface="Arvo"/>
                <a:sym typeface="Arvo"/>
              </a:rPr>
              <a:t>Connection</a:t>
            </a:r>
            <a:endParaRPr b="1"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Shows links or networks between entities — often used to visualize relationships in social, technical, or organizational structures.</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Purpose: Understand interconnections or data flow.</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Common charts: Network Diagram, Sankey Diagram, Node-Link Diagram.</a:t>
            </a:r>
            <a:endParaRPr sz="1300">
              <a:latin typeface="Arvo"/>
              <a:ea typeface="Arvo"/>
              <a:cs typeface="Arvo"/>
              <a:sym typeface="Arvo"/>
            </a:endParaRPr>
          </a:p>
          <a:p>
            <a:pPr indent="0" lvl="0" marL="0" rtl="0" algn="l">
              <a:lnSpc>
                <a:spcPct val="150000"/>
              </a:lnSpc>
              <a:spcBef>
                <a:spcPts val="0"/>
              </a:spcBef>
              <a:spcAft>
                <a:spcPts val="0"/>
              </a:spcAft>
              <a:buNone/>
            </a:pPr>
            <a:r>
              <a:rPr lang="en" sz="1300">
                <a:latin typeface="Arvo"/>
                <a:ea typeface="Arvo"/>
                <a:cs typeface="Arvo"/>
                <a:sym typeface="Arvo"/>
              </a:rPr>
              <a:t>Example: Visualizing website navigation paths or social media user connections.</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a:p>
            <a:pPr indent="0" lvl="0" marL="0" rtl="0" algn="l">
              <a:lnSpc>
                <a:spcPct val="150000"/>
              </a:lnSpc>
              <a:spcBef>
                <a:spcPts val="0"/>
              </a:spcBef>
              <a:spcAft>
                <a:spcPts val="0"/>
              </a:spcAft>
              <a:buNone/>
            </a:pPr>
            <a:r>
              <a:t/>
            </a:r>
            <a:endParaRPr sz="1300">
              <a:latin typeface="Arvo"/>
              <a:ea typeface="Arvo"/>
              <a:cs typeface="Arvo"/>
              <a:sym typeface="Arv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